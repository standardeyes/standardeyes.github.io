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2D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85800" y="1600200"/>
            <a:ext cx="566928" cy="56692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SE</a:t>
            </a:r>
          </a:p>
        </p:txBody>
      </p:sp>
      <p:sp>
        <p:nvSpPr>
          <p:cNvPr id="4" name="TextBox 3"/>
          <p:cNvSpPr txBox="1"/>
          <p:nvPr/>
        </p:nvSpPr>
        <p:spPr>
          <a:xfrm>
            <a:off x="1463040" y="1627632"/>
            <a:ext cx="7315200" cy="457200"/>
          </a:xfrm>
          <a:prstGeom prst="rect">
            <a:avLst/>
          </a:prstGeom>
          <a:noFill/>
        </p:spPr>
        <p:txBody>
          <a:bodyPr wrap="square" lIns="0" rIns="0" tIns="0" bIns="0" anchor="t">
            <a:spAutoFit/>
          </a:bodyPr>
          <a:lstStyle/>
          <a:p>
            <a:pPr algn="l">
              <a:lnSpc>
                <a:spcPct val="115000"/>
              </a:lnSpc>
              <a:spcAft>
                <a:spcPts val="600"/>
              </a:spcAft>
            </a:pPr>
            <a:r>
              <a:rPr sz="1500" b="1">
                <a:solidFill>
                  <a:srgbClr val="E6F5F3"/>
                </a:solidFill>
                <a:latin typeface="Calibri"/>
              </a:rPr>
              <a:t>REFRACTIVE SURGERY</a:t>
            </a:r>
          </a:p>
        </p:txBody>
      </p:sp>
      <p:sp>
        <p:nvSpPr>
          <p:cNvPr id="5" name="TextBox 4"/>
          <p:cNvSpPr txBox="1"/>
          <p:nvPr/>
        </p:nvSpPr>
        <p:spPr>
          <a:xfrm>
            <a:off x="685800" y="2377440"/>
            <a:ext cx="10515600" cy="1737360"/>
          </a:xfrm>
          <a:prstGeom prst="rect">
            <a:avLst/>
          </a:prstGeom>
          <a:noFill/>
        </p:spPr>
        <p:txBody>
          <a:bodyPr wrap="square" lIns="0" rIns="0" tIns="0" bIns="0" anchor="t">
            <a:spAutoFit/>
          </a:bodyPr>
          <a:lstStyle/>
          <a:p>
            <a:pPr algn="l">
              <a:lnSpc>
                <a:spcPct val="105000"/>
              </a:lnSpc>
              <a:spcAft>
                <a:spcPts val="200"/>
              </a:spcAft>
            </a:pPr>
            <a:r>
              <a:rPr sz="4800" b="1">
                <a:solidFill>
                  <a:srgbClr val="FFFFFF"/>
                </a:solidFill>
                <a:latin typeface="Cambria"/>
              </a:rPr>
              <a:t>StandardEyes</a:t>
            </a:r>
          </a:p>
          <a:p>
            <a:pPr algn="l">
              <a:lnSpc>
                <a:spcPct val="105000"/>
              </a:lnSpc>
              <a:spcAft>
                <a:spcPts val="200"/>
              </a:spcAft>
            </a:pPr>
            <a:r>
              <a:rPr sz="4800" b="1">
                <a:solidFill>
                  <a:srgbClr val="FFFFFF"/>
                </a:solidFill>
                <a:latin typeface="Cambria"/>
              </a:rPr>
              <a:t>Refractive surgery analysis</a:t>
            </a:r>
          </a:p>
        </p:txBody>
      </p:sp>
      <p:sp>
        <p:nvSpPr>
          <p:cNvPr id="6" name="TextBox 5"/>
          <p:cNvSpPr txBox="1"/>
          <p:nvPr/>
        </p:nvSpPr>
        <p:spPr>
          <a:xfrm>
            <a:off x="713232" y="4434840"/>
            <a:ext cx="10058400" cy="365760"/>
          </a:xfrm>
          <a:prstGeom prst="rect">
            <a:avLst/>
          </a:prstGeom>
          <a:noFill/>
        </p:spPr>
        <p:txBody>
          <a:bodyPr wrap="square" lIns="0" rIns="0" tIns="0" bIns="0" anchor="t">
            <a:spAutoFit/>
          </a:bodyPr>
          <a:lstStyle/>
          <a:p>
            <a:pPr algn="l">
              <a:lnSpc>
                <a:spcPct val="115000"/>
              </a:lnSpc>
              <a:spcAft>
                <a:spcPts val="600"/>
              </a:spcAft>
            </a:pPr>
            <a:r>
              <a:rPr sz="1900" b="0">
                <a:solidFill>
                  <a:srgbClr val="E6F5F3"/>
                </a:solidFill>
                <a:latin typeface="Calibri"/>
              </a:rPr>
              <a:t>User manual &amp; walkthrough  ·  v1.1.0  ·  standardeyes.github.io</a:t>
            </a:r>
          </a:p>
        </p:txBody>
      </p:sp>
      <p:sp>
        <p:nvSpPr>
          <p:cNvPr id="7" name="TextBox 6"/>
          <p:cNvSpPr txBox="1"/>
          <p:nvPr/>
        </p:nvSpPr>
        <p:spPr>
          <a:xfrm>
            <a:off x="713232" y="5394960"/>
            <a:ext cx="8229600" cy="365760"/>
          </a:xfrm>
          <a:prstGeom prst="rect">
            <a:avLst/>
          </a:prstGeom>
          <a:noFill/>
        </p:spPr>
        <p:txBody>
          <a:bodyPr wrap="square" lIns="0" rIns="0" tIns="0" bIns="0" anchor="t">
            <a:spAutoFit/>
          </a:bodyPr>
          <a:lstStyle/>
          <a:p>
            <a:pPr algn="l">
              <a:lnSpc>
                <a:spcPct val="115000"/>
              </a:lnSpc>
              <a:spcAft>
                <a:spcPts val="600"/>
              </a:spcAft>
            </a:pPr>
            <a:r>
              <a:rPr sz="1600" b="1">
                <a:solidFill>
                  <a:srgbClr val="5EEAD4"/>
                </a:solidFill>
                <a:latin typeface="Calibri"/>
              </a:rPr>
              <a:t>By Noyman DBE, Mimouni M, Safir 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What this app does</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One tool from raw Excel to publication-ready tables and figures</a:t>
            </a:r>
          </a:p>
        </p:txBody>
      </p:sp>
      <p:sp>
        <p:nvSpPr>
          <p:cNvPr id="4" name="Rounded Rectangle 3"/>
          <p:cNvSpPr/>
          <p:nvPr/>
        </p:nvSpPr>
        <p:spPr>
          <a:xfrm>
            <a:off x="685800" y="1965960"/>
            <a:ext cx="10789920" cy="9601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960120" y="2212848"/>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1</a:t>
            </a:r>
          </a:p>
        </p:txBody>
      </p:sp>
      <p:sp>
        <p:nvSpPr>
          <p:cNvPr id="6" name="TextBox 5"/>
          <p:cNvSpPr txBox="1"/>
          <p:nvPr/>
        </p:nvSpPr>
        <p:spPr>
          <a:xfrm>
            <a:off x="1627632" y="2148840"/>
            <a:ext cx="2743200" cy="320040"/>
          </a:xfrm>
          <a:prstGeom prst="rect">
            <a:avLst/>
          </a:prstGeom>
          <a:noFill/>
        </p:spPr>
        <p:txBody>
          <a:bodyPr wrap="square" lIns="0" rIns="0" tIns="0" bIns="0" anchor="t">
            <a:spAutoFit/>
          </a:bodyPr>
          <a:lstStyle/>
          <a:p>
            <a:pPr algn="l">
              <a:lnSpc>
                <a:spcPct val="115000"/>
              </a:lnSpc>
              <a:spcAft>
                <a:spcPts val="600"/>
              </a:spcAft>
            </a:pPr>
            <a:r>
              <a:rPr sz="1700" b="1">
                <a:solidFill>
                  <a:srgbClr val="0D2D2A"/>
                </a:solidFill>
                <a:latin typeface="Calibri"/>
              </a:rPr>
              <a:t>Compare groups</a:t>
            </a:r>
          </a:p>
        </p:txBody>
      </p:sp>
      <p:sp>
        <p:nvSpPr>
          <p:cNvPr id="7" name="TextBox 6"/>
          <p:cNvSpPr txBox="1"/>
          <p:nvPr/>
        </p:nvSpPr>
        <p:spPr>
          <a:xfrm>
            <a:off x="4297680" y="2167128"/>
            <a:ext cx="6949440" cy="64008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Summary tables for any number of groups, with the test chosen per variable type and clustered by patient when both eyes of a patient are analyzed. P values in journal style (.27, &lt;.001).</a:t>
            </a:r>
          </a:p>
        </p:txBody>
      </p:sp>
      <p:sp>
        <p:nvSpPr>
          <p:cNvPr id="8" name="Rounded Rectangle 7"/>
          <p:cNvSpPr/>
          <p:nvPr/>
        </p:nvSpPr>
        <p:spPr>
          <a:xfrm>
            <a:off x="685800" y="3063239"/>
            <a:ext cx="10789920" cy="9601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0120" y="3310127"/>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2</a:t>
            </a:r>
          </a:p>
        </p:txBody>
      </p:sp>
      <p:sp>
        <p:nvSpPr>
          <p:cNvPr id="10" name="TextBox 9"/>
          <p:cNvSpPr txBox="1"/>
          <p:nvPr/>
        </p:nvSpPr>
        <p:spPr>
          <a:xfrm>
            <a:off x="1627632" y="3246120"/>
            <a:ext cx="2743200" cy="320040"/>
          </a:xfrm>
          <a:prstGeom prst="rect">
            <a:avLst/>
          </a:prstGeom>
          <a:noFill/>
        </p:spPr>
        <p:txBody>
          <a:bodyPr wrap="square" lIns="0" rIns="0" tIns="0" bIns="0" anchor="t">
            <a:spAutoFit/>
          </a:bodyPr>
          <a:lstStyle/>
          <a:p>
            <a:pPr algn="l">
              <a:lnSpc>
                <a:spcPct val="115000"/>
              </a:lnSpc>
              <a:spcAft>
                <a:spcPts val="600"/>
              </a:spcAft>
            </a:pPr>
            <a:r>
              <a:rPr sz="1700" b="1">
                <a:solidFill>
                  <a:srgbClr val="0D2D2A"/>
                </a:solidFill>
                <a:latin typeface="Calibri"/>
              </a:rPr>
              <a:t>Match fairly</a:t>
            </a:r>
          </a:p>
        </p:txBody>
      </p:sp>
      <p:sp>
        <p:nvSpPr>
          <p:cNvPr id="11" name="TextBox 10"/>
          <p:cNvSpPr txBox="1"/>
          <p:nvPr/>
        </p:nvSpPr>
        <p:spPr>
          <a:xfrm>
            <a:off x="4297680" y="3264408"/>
            <a:ext cx="6949440" cy="64008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Matching with MatchIt (nearest neighbor on the logit of the propensity score, exact, coarsened exact or subclassification), with a live matched-count preview for nearest neighbor and balance reporting.</a:t>
            </a:r>
          </a:p>
        </p:txBody>
      </p:sp>
      <p:sp>
        <p:nvSpPr>
          <p:cNvPr id="12" name="Rounded Rectangle 11"/>
          <p:cNvSpPr/>
          <p:nvPr/>
        </p:nvSpPr>
        <p:spPr>
          <a:xfrm>
            <a:off x="685800" y="4160520"/>
            <a:ext cx="10789920" cy="9601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960120" y="4407408"/>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3</a:t>
            </a:r>
          </a:p>
        </p:txBody>
      </p:sp>
      <p:sp>
        <p:nvSpPr>
          <p:cNvPr id="14" name="TextBox 13"/>
          <p:cNvSpPr txBox="1"/>
          <p:nvPr/>
        </p:nvSpPr>
        <p:spPr>
          <a:xfrm>
            <a:off x="1627632" y="4343400"/>
            <a:ext cx="2743200" cy="320040"/>
          </a:xfrm>
          <a:prstGeom prst="rect">
            <a:avLst/>
          </a:prstGeom>
          <a:noFill/>
        </p:spPr>
        <p:txBody>
          <a:bodyPr wrap="square" lIns="0" rIns="0" tIns="0" bIns="0" anchor="t">
            <a:spAutoFit/>
          </a:bodyPr>
          <a:lstStyle/>
          <a:p>
            <a:pPr algn="l">
              <a:lnSpc>
                <a:spcPct val="115000"/>
              </a:lnSpc>
              <a:spcAft>
                <a:spcPts val="600"/>
              </a:spcAft>
            </a:pPr>
            <a:r>
              <a:rPr sz="1700" b="1">
                <a:solidFill>
                  <a:srgbClr val="0D2D2A"/>
                </a:solidFill>
                <a:latin typeface="Calibri"/>
              </a:rPr>
              <a:t>Model properly</a:t>
            </a:r>
          </a:p>
        </p:txBody>
      </p:sp>
      <p:sp>
        <p:nvSpPr>
          <p:cNvPr id="15" name="TextBox 14"/>
          <p:cNvSpPr txBox="1"/>
          <p:nvPr/>
        </p:nvSpPr>
        <p:spPr>
          <a:xfrm>
            <a:off x="4297680" y="4361688"/>
            <a:ext cx="6949440" cy="64008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GEE clustered on the patient, with the Mancl-DeRouen small-sample correction, so both eyes of a patient are handled correctly, plus covariate-adjusted regression.</a:t>
            </a:r>
          </a:p>
        </p:txBody>
      </p:sp>
      <p:sp>
        <p:nvSpPr>
          <p:cNvPr id="16" name="Rounded Rectangle 15"/>
          <p:cNvSpPr/>
          <p:nvPr/>
        </p:nvSpPr>
        <p:spPr>
          <a:xfrm>
            <a:off x="685800" y="5257800"/>
            <a:ext cx="10789920" cy="9601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960120" y="5504688"/>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4</a:t>
            </a:r>
          </a:p>
        </p:txBody>
      </p:sp>
      <p:sp>
        <p:nvSpPr>
          <p:cNvPr id="18" name="TextBox 17"/>
          <p:cNvSpPr txBox="1"/>
          <p:nvPr/>
        </p:nvSpPr>
        <p:spPr>
          <a:xfrm>
            <a:off x="1627632" y="5440680"/>
            <a:ext cx="2743200" cy="320040"/>
          </a:xfrm>
          <a:prstGeom prst="rect">
            <a:avLst/>
          </a:prstGeom>
          <a:noFill/>
        </p:spPr>
        <p:txBody>
          <a:bodyPr wrap="square" lIns="0" rIns="0" tIns="0" bIns="0" anchor="t">
            <a:spAutoFit/>
          </a:bodyPr>
          <a:lstStyle/>
          <a:p>
            <a:pPr algn="l">
              <a:lnSpc>
                <a:spcPct val="115000"/>
              </a:lnSpc>
              <a:spcAft>
                <a:spcPts val="600"/>
              </a:spcAft>
            </a:pPr>
            <a:r>
              <a:rPr sz="1700" b="1">
                <a:solidFill>
                  <a:srgbClr val="0D2D2A"/>
                </a:solidFill>
                <a:latin typeface="Calibri"/>
              </a:rPr>
              <a:t>Publish</a:t>
            </a:r>
          </a:p>
        </p:txBody>
      </p:sp>
      <p:sp>
        <p:nvSpPr>
          <p:cNvPr id="19" name="TextBox 18"/>
          <p:cNvSpPr txBox="1"/>
          <p:nvPr/>
        </p:nvSpPr>
        <p:spPr>
          <a:xfrm>
            <a:off x="4297680" y="5458968"/>
            <a:ext cx="6949440" cy="64008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Journal-style figures with every group on one chart, JCRS 2025 double-angle astigmatism plots (preoperative, SIA, prediction error), the astigmatism sheets, and stability over time.</a:t>
            </a:r>
          </a:p>
        </p:txBody>
      </p:sp>
      <p:sp>
        <p:nvSpPr>
          <p:cNvPr id="20" name="TextBox 19"/>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21" name="TextBox 20"/>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Before you start</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Almost everything is already inside the folder</a:t>
            </a:r>
          </a:p>
        </p:txBody>
      </p:sp>
      <p:sp>
        <p:nvSpPr>
          <p:cNvPr id="4" name="Rounded Rectangle 3"/>
          <p:cNvSpPr/>
          <p:nvPr/>
        </p:nvSpPr>
        <p:spPr>
          <a:xfrm>
            <a:off x="685800" y="1965960"/>
            <a:ext cx="5257800" cy="3566160"/>
          </a:xfrm>
          <a:prstGeom prst="roundRect">
            <a:avLst/>
          </a:prstGeom>
          <a:solidFill>
            <a:srgbClr val="E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51560" y="2286000"/>
            <a:ext cx="502920" cy="50292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900" b="1">
                <a:solidFill>
                  <a:srgbClr val="FFFFFF"/>
                </a:solidFill>
                <a:latin typeface="Calibri"/>
              </a:rPr>
              <a:t>R</a:t>
            </a:r>
          </a:p>
        </p:txBody>
      </p:sp>
      <p:sp>
        <p:nvSpPr>
          <p:cNvPr id="6" name="TextBox 5"/>
          <p:cNvSpPr txBox="1"/>
          <p:nvPr/>
        </p:nvSpPr>
        <p:spPr>
          <a:xfrm>
            <a:off x="1783080" y="2377440"/>
            <a:ext cx="3840480" cy="365760"/>
          </a:xfrm>
          <a:prstGeom prst="rect">
            <a:avLst/>
          </a:prstGeom>
          <a:noFill/>
        </p:spPr>
        <p:txBody>
          <a:bodyPr wrap="square" lIns="0" rIns="0" tIns="0" bIns="0" anchor="t">
            <a:spAutoFit/>
          </a:bodyPr>
          <a:lstStyle/>
          <a:p>
            <a:pPr algn="l">
              <a:lnSpc>
                <a:spcPct val="115000"/>
              </a:lnSpc>
              <a:spcAft>
                <a:spcPts val="600"/>
              </a:spcAft>
            </a:pPr>
            <a:r>
              <a:rPr sz="2000" b="1">
                <a:solidFill>
                  <a:srgbClr val="0D2D2A"/>
                </a:solidFill>
                <a:latin typeface="Cambria"/>
              </a:rPr>
              <a:t>You need R 4.5.x</a:t>
            </a:r>
          </a:p>
        </p:txBody>
      </p:sp>
      <p:sp>
        <p:nvSpPr>
          <p:cNvPr id="7" name="TextBox 6"/>
          <p:cNvSpPr txBox="1"/>
          <p:nvPr/>
        </p:nvSpPr>
        <p:spPr>
          <a:xfrm>
            <a:off x="1051560" y="3108960"/>
            <a:ext cx="4572000" cy="2194560"/>
          </a:xfrm>
          <a:prstGeom prst="rect">
            <a:avLst/>
          </a:prstGeom>
          <a:noFill/>
        </p:spPr>
        <p:txBody>
          <a:bodyPr wrap="square" lIns="0" rIns="0" tIns="0" bIns="0" anchor="t">
            <a:spAutoFit/>
          </a:bodyPr>
          <a:lstStyle/>
          <a:p>
            <a:pPr algn="l">
              <a:lnSpc>
                <a:spcPct val="115000"/>
              </a:lnSpc>
              <a:spcAft>
                <a:spcPts val="300"/>
              </a:spcAft>
            </a:pPr>
            <a:r>
              <a:rPr sz="1300" b="0">
                <a:solidFill>
                  <a:srgbClr val="0D2D2A"/>
                </a:solidFill>
                <a:latin typeface="Calibri"/>
              </a:rPr>
              <a:t>The statistics run in R, so R must be installed on your computer.</a:t>
            </a:r>
          </a:p>
          <a:p>
            <a:pPr algn="l">
              <a:lnSpc>
                <a:spcPct val="115000"/>
              </a:lnSpc>
              <a:spcAft>
                <a:spcPts val="300"/>
              </a:spcAft>
            </a:pPr>
            <a:r>
              <a:rPr sz="1300" b="0">
                <a:solidFill>
                  <a:srgbClr val="0D2D2A"/>
                </a:solidFill>
                <a:latin typeface="Calibri"/>
              </a:rPr>
              <a:t>Use R 4.5.x, not 4.6 or an older R. CRAN's main page now offers 4.6. R 4.5.2 is at cran.r-project.org/bin/windows/base/old/4.5.2/</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Typical location:</a:t>
            </a:r>
          </a:p>
          <a:p>
            <a:pPr algn="l">
              <a:lnSpc>
                <a:spcPct val="115000"/>
              </a:lnSpc>
              <a:spcAft>
                <a:spcPts val="300"/>
              </a:spcAft>
            </a:pPr>
            <a:r>
              <a:rPr sz="1300" b="0">
                <a:solidFill>
                  <a:srgbClr val="0D2D2A"/>
                </a:solidFill>
                <a:latin typeface="Calibri"/>
              </a:rPr>
              <a:t>C:\Program Files\R\R-4.5.2\</a:t>
            </a:r>
          </a:p>
          <a:p>
            <a:pPr algn="l">
              <a:lnSpc>
                <a:spcPct val="115000"/>
              </a:lnSpc>
              <a:spcAft>
                <a:spcPts val="300"/>
              </a:spcAft>
            </a:pPr>
            <a:r>
              <a:rPr sz="1300" b="0">
                <a:solidFill>
                  <a:srgbClr val="0D2D2A"/>
                </a:solidFill>
                <a:latin typeface="Calibri"/>
              </a:rPr>
              <a:t/>
            </a:r>
          </a:p>
          <a:p>
            <a:pPr algn="l">
              <a:lnSpc>
                <a:spcPct val="115000"/>
              </a:lnSpc>
              <a:spcAft>
                <a:spcPts val="300"/>
              </a:spcAft>
            </a:pPr>
            <a:r>
              <a:rPr sz="1300" b="0">
                <a:solidFill>
                  <a:srgbClr val="0D2D2A"/>
                </a:solidFill>
                <a:latin typeface="Calibri"/>
              </a:rPr>
              <a:t>The app finds it automatically. If it can't, it asks you — see the next slide.</a:t>
            </a:r>
          </a:p>
        </p:txBody>
      </p:sp>
      <p:sp>
        <p:nvSpPr>
          <p:cNvPr id="8" name="Rounded Rectangle 7"/>
          <p:cNvSpPr/>
          <p:nvPr/>
        </p:nvSpPr>
        <p:spPr>
          <a:xfrm>
            <a:off x="6217920" y="1965960"/>
            <a:ext cx="5257800" cy="356616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583680" y="2286000"/>
            <a:ext cx="502920" cy="502920"/>
          </a:xfrm>
          <a:prstGeom prst="ellipse">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a:solidFill>
                  <a:srgbClr val="FFFFFF"/>
                </a:solidFill>
                <a:latin typeface="Calibri"/>
              </a:rPr>
              <a:t>✓</a:t>
            </a:r>
          </a:p>
        </p:txBody>
      </p:sp>
      <p:sp>
        <p:nvSpPr>
          <p:cNvPr id="10" name="TextBox 9"/>
          <p:cNvSpPr txBox="1"/>
          <p:nvPr/>
        </p:nvSpPr>
        <p:spPr>
          <a:xfrm>
            <a:off x="7315200" y="2377440"/>
            <a:ext cx="3840480" cy="365760"/>
          </a:xfrm>
          <a:prstGeom prst="rect">
            <a:avLst/>
          </a:prstGeom>
          <a:noFill/>
        </p:spPr>
        <p:txBody>
          <a:bodyPr wrap="square" lIns="0" rIns="0" tIns="0" bIns="0" anchor="t">
            <a:spAutoFit/>
          </a:bodyPr>
          <a:lstStyle/>
          <a:p>
            <a:pPr algn="l">
              <a:lnSpc>
                <a:spcPct val="115000"/>
              </a:lnSpc>
              <a:spcAft>
                <a:spcPts val="600"/>
              </a:spcAft>
            </a:pPr>
            <a:r>
              <a:rPr sz="2000" b="1">
                <a:solidFill>
                  <a:srgbClr val="0D2D2A"/>
                </a:solidFill>
                <a:latin typeface="Cambria"/>
              </a:rPr>
              <a:t>Already included</a:t>
            </a:r>
          </a:p>
        </p:txBody>
      </p:sp>
      <p:sp>
        <p:nvSpPr>
          <p:cNvPr id="11" name="TextBox 10"/>
          <p:cNvSpPr txBox="1"/>
          <p:nvPr/>
        </p:nvSpPr>
        <p:spPr>
          <a:xfrm>
            <a:off x="6583680" y="3108960"/>
            <a:ext cx="4572000" cy="2194560"/>
          </a:xfrm>
          <a:prstGeom prst="rect">
            <a:avLst/>
          </a:prstGeom>
          <a:noFill/>
        </p:spPr>
        <p:txBody>
          <a:bodyPr wrap="square" lIns="0" rIns="0" tIns="0" bIns="0" anchor="t">
            <a:spAutoFit/>
          </a:bodyPr>
          <a:lstStyle/>
          <a:p>
            <a:pPr algn="l">
              <a:lnSpc>
                <a:spcPct val="115000"/>
              </a:lnSpc>
              <a:spcAft>
                <a:spcPts val="400"/>
              </a:spcAft>
            </a:pPr>
            <a:r>
              <a:rPr sz="1300" b="0">
                <a:solidFill>
                  <a:srgbClr val="0D2D2A"/>
                </a:solidFill>
                <a:latin typeface="Calibri"/>
              </a:rPr>
              <a:t>•  The Python runtime that serves the app</a:t>
            </a:r>
          </a:p>
          <a:p>
            <a:pPr algn="l">
              <a:lnSpc>
                <a:spcPct val="115000"/>
              </a:lnSpc>
              <a:spcAft>
                <a:spcPts val="400"/>
              </a:spcAft>
            </a:pPr>
            <a:r>
              <a:rPr sz="1300" b="0">
                <a:solidFill>
                  <a:srgbClr val="0D2D2A"/>
                </a:solidFill>
                <a:latin typeface="Calibri"/>
              </a:rPr>
              <a:t>•  All 48 R packages the analysis needs</a:t>
            </a:r>
          </a:p>
          <a:p>
            <a:pPr algn="l">
              <a:lnSpc>
                <a:spcPct val="115000"/>
              </a:lnSpc>
              <a:spcAft>
                <a:spcPts val="400"/>
              </a:spcAft>
            </a:pPr>
            <a:r>
              <a:rPr sz="1300" b="0">
                <a:solidFill>
                  <a:srgbClr val="0D2D2A"/>
                </a:solidFill>
                <a:latin typeface="Calibri"/>
              </a:rPr>
              <a:t>•  The full statistical engine and figure code</a:t>
            </a:r>
          </a:p>
          <a:p>
            <a:pPr algn="l">
              <a:lnSpc>
                <a:spcPct val="115000"/>
              </a:lnSpc>
              <a:spcAft>
                <a:spcPts val="400"/>
              </a:spcAft>
            </a:pPr>
            <a:r>
              <a:rPr sz="1300" b="0">
                <a:solidFill>
                  <a:srgbClr val="0D2D2A"/>
                </a:solidFill>
                <a:latin typeface="Calibri"/>
              </a:rPr>
              <a:t/>
            </a:r>
          </a:p>
          <a:p>
            <a:pPr algn="l">
              <a:lnSpc>
                <a:spcPct val="115000"/>
              </a:lnSpc>
              <a:spcAft>
                <a:spcPts val="400"/>
              </a:spcAft>
            </a:pPr>
            <a:r>
              <a:rPr sz="1300" b="0">
                <a:solidFill>
                  <a:srgbClr val="0D2D2A"/>
                </a:solidFill>
                <a:latin typeface="Calibri"/>
              </a:rPr>
              <a:t>Nothing is installed on your machine and nothing is downloaded — it works on a restricted network.</a:t>
            </a:r>
          </a:p>
        </p:txBody>
      </p:sp>
      <p:sp>
        <p:nvSpPr>
          <p:cNvPr id="12" name="TextBox 11"/>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13" name="TextBox 12"/>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Starting the app</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Copy once, then start it the same way every time</a:t>
            </a:r>
          </a:p>
        </p:txBody>
      </p:sp>
      <p:sp>
        <p:nvSpPr>
          <p:cNvPr id="4" name="Oval 3"/>
          <p:cNvSpPr/>
          <p:nvPr/>
        </p:nvSpPr>
        <p:spPr>
          <a:xfrm>
            <a:off x="777240" y="2011680"/>
            <a:ext cx="658368" cy="65836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latin typeface="Calibri"/>
              </a:rPr>
              <a:t>1</a:t>
            </a:r>
          </a:p>
        </p:txBody>
      </p:sp>
      <p:sp>
        <p:nvSpPr>
          <p:cNvPr id="5" name="TextBox 4"/>
          <p:cNvSpPr txBox="1"/>
          <p:nvPr/>
        </p:nvSpPr>
        <p:spPr>
          <a:xfrm>
            <a:off x="1783080" y="2029968"/>
            <a:ext cx="8686800" cy="365760"/>
          </a:xfrm>
          <a:prstGeom prst="rect">
            <a:avLst/>
          </a:prstGeom>
          <a:noFill/>
        </p:spPr>
        <p:txBody>
          <a:bodyPr wrap="square" lIns="0" rIns="0" tIns="0" bIns="0" anchor="t">
            <a:spAutoFit/>
          </a:bodyPr>
          <a:lstStyle/>
          <a:p>
            <a:pPr algn="l">
              <a:lnSpc>
                <a:spcPct val="115000"/>
              </a:lnSpc>
              <a:spcAft>
                <a:spcPts val="600"/>
              </a:spcAft>
            </a:pPr>
            <a:r>
              <a:rPr sz="2000" b="1">
                <a:solidFill>
                  <a:srgbClr val="0D2D2A"/>
                </a:solidFill>
                <a:latin typeface="Cambria"/>
              </a:rPr>
              <a:t>Copy the whole folder</a:t>
            </a:r>
          </a:p>
        </p:txBody>
      </p:sp>
      <p:sp>
        <p:nvSpPr>
          <p:cNvPr id="6" name="TextBox 5"/>
          <p:cNvSpPr txBox="1"/>
          <p:nvPr/>
        </p:nvSpPr>
        <p:spPr>
          <a:xfrm>
            <a:off x="1783080" y="2468880"/>
            <a:ext cx="9052560" cy="548640"/>
          </a:xfrm>
          <a:prstGeom prst="rect">
            <a:avLst/>
          </a:prstGeom>
          <a:noFill/>
        </p:spPr>
        <p:txBody>
          <a:bodyPr wrap="square" lIns="0" rIns="0" tIns="0" bIns="0" anchor="t">
            <a:spAutoFit/>
          </a:bodyPr>
          <a:lstStyle/>
          <a:p>
            <a:pPr algn="l">
              <a:lnSpc>
                <a:spcPct val="115000"/>
              </a:lnSpc>
              <a:spcAft>
                <a:spcPts val="600"/>
              </a:spcAft>
            </a:pPr>
            <a:r>
              <a:rPr sz="1350" b="0">
                <a:solidFill>
                  <a:srgbClr val="4F6763"/>
                </a:solidFill>
                <a:latin typeface="Calibri"/>
              </a:rPr>
              <a:t>Download StandardEyes-windows.zip from standardeyes.github.io, right-click it, choose Properties and tick Unblock. Extract the whole folder where you can write, e.g. C:\StandardEyes or Documents, not C:\Program Files.</a:t>
            </a:r>
          </a:p>
        </p:txBody>
      </p:sp>
      <p:sp>
        <p:nvSpPr>
          <p:cNvPr id="7" name="Oval 6"/>
          <p:cNvSpPr/>
          <p:nvPr/>
        </p:nvSpPr>
        <p:spPr>
          <a:xfrm>
            <a:off x="777240" y="3246120"/>
            <a:ext cx="658368" cy="65836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latin typeface="Calibri"/>
              </a:rPr>
              <a:t>2</a:t>
            </a:r>
          </a:p>
        </p:txBody>
      </p:sp>
      <p:sp>
        <p:nvSpPr>
          <p:cNvPr id="8" name="TextBox 7"/>
          <p:cNvSpPr txBox="1"/>
          <p:nvPr/>
        </p:nvSpPr>
        <p:spPr>
          <a:xfrm>
            <a:off x="1783080" y="3264408"/>
            <a:ext cx="8686800" cy="365760"/>
          </a:xfrm>
          <a:prstGeom prst="rect">
            <a:avLst/>
          </a:prstGeom>
          <a:noFill/>
        </p:spPr>
        <p:txBody>
          <a:bodyPr wrap="square" lIns="0" rIns="0" tIns="0" bIns="0" anchor="t">
            <a:spAutoFit/>
          </a:bodyPr>
          <a:lstStyle/>
          <a:p>
            <a:pPr algn="l">
              <a:lnSpc>
                <a:spcPct val="115000"/>
              </a:lnSpc>
              <a:spcAft>
                <a:spcPts val="600"/>
              </a:spcAft>
            </a:pPr>
            <a:r>
              <a:rPr sz="2000" b="1">
                <a:solidFill>
                  <a:srgbClr val="0D2D2A"/>
                </a:solidFill>
                <a:latin typeface="Cambria"/>
              </a:rPr>
              <a:t>Double-click the launcher</a:t>
            </a:r>
          </a:p>
        </p:txBody>
      </p:sp>
      <p:sp>
        <p:nvSpPr>
          <p:cNvPr id="9" name="TextBox 8"/>
          <p:cNvSpPr txBox="1"/>
          <p:nvPr/>
        </p:nvSpPr>
        <p:spPr>
          <a:xfrm>
            <a:off x="1783080" y="3703320"/>
            <a:ext cx="9052560" cy="548640"/>
          </a:xfrm>
          <a:prstGeom prst="rect">
            <a:avLst/>
          </a:prstGeom>
          <a:noFill/>
        </p:spPr>
        <p:txBody>
          <a:bodyPr wrap="square" lIns="0" rIns="0" tIns="0" bIns="0" anchor="t">
            <a:spAutoFit/>
          </a:bodyPr>
          <a:lstStyle/>
          <a:p>
            <a:pPr algn="l">
              <a:lnSpc>
                <a:spcPct val="115000"/>
              </a:lnSpc>
              <a:spcAft>
                <a:spcPts val="600"/>
              </a:spcAft>
            </a:pPr>
            <a:r>
              <a:rPr sz="1350" b="0">
                <a:solidFill>
                  <a:srgbClr val="4F6763"/>
                </a:solidFill>
                <a:latin typeface="Calibri"/>
              </a:rPr>
              <a:t>Start StandardEyes.bat</a:t>
            </a:r>
          </a:p>
        </p:txBody>
      </p:sp>
      <p:sp>
        <p:nvSpPr>
          <p:cNvPr id="10" name="Oval 9"/>
          <p:cNvSpPr/>
          <p:nvPr/>
        </p:nvSpPr>
        <p:spPr>
          <a:xfrm>
            <a:off x="777240" y="4480560"/>
            <a:ext cx="658368" cy="65836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latin typeface="Calibri"/>
              </a:rPr>
              <a:t>3</a:t>
            </a:r>
          </a:p>
        </p:txBody>
      </p:sp>
      <p:sp>
        <p:nvSpPr>
          <p:cNvPr id="11" name="TextBox 10"/>
          <p:cNvSpPr txBox="1"/>
          <p:nvPr/>
        </p:nvSpPr>
        <p:spPr>
          <a:xfrm>
            <a:off x="1783080" y="4498848"/>
            <a:ext cx="8686800" cy="365760"/>
          </a:xfrm>
          <a:prstGeom prst="rect">
            <a:avLst/>
          </a:prstGeom>
          <a:noFill/>
        </p:spPr>
        <p:txBody>
          <a:bodyPr wrap="square" lIns="0" rIns="0" tIns="0" bIns="0" anchor="t">
            <a:spAutoFit/>
          </a:bodyPr>
          <a:lstStyle/>
          <a:p>
            <a:pPr algn="l">
              <a:lnSpc>
                <a:spcPct val="115000"/>
              </a:lnSpc>
              <a:spcAft>
                <a:spcPts val="600"/>
              </a:spcAft>
            </a:pPr>
            <a:r>
              <a:rPr sz="2000" b="1">
                <a:solidFill>
                  <a:srgbClr val="0D2D2A"/>
                </a:solidFill>
                <a:latin typeface="Cambria"/>
              </a:rPr>
              <a:t>Work in your browser</a:t>
            </a:r>
          </a:p>
        </p:txBody>
      </p:sp>
      <p:sp>
        <p:nvSpPr>
          <p:cNvPr id="12" name="TextBox 11"/>
          <p:cNvSpPr txBox="1"/>
          <p:nvPr/>
        </p:nvSpPr>
        <p:spPr>
          <a:xfrm>
            <a:off x="1783080" y="4937760"/>
            <a:ext cx="9052560" cy="548640"/>
          </a:xfrm>
          <a:prstGeom prst="rect">
            <a:avLst/>
          </a:prstGeom>
          <a:noFill/>
        </p:spPr>
        <p:txBody>
          <a:bodyPr wrap="square" lIns="0" rIns="0" tIns="0" bIns="0" anchor="t">
            <a:spAutoFit/>
          </a:bodyPr>
          <a:lstStyle/>
          <a:p>
            <a:pPr algn="l">
              <a:lnSpc>
                <a:spcPct val="115000"/>
              </a:lnSpc>
              <a:spcAft>
                <a:spcPts val="600"/>
              </a:spcAft>
            </a:pPr>
            <a:r>
              <a:rPr sz="1350" b="0">
                <a:solidFill>
                  <a:srgbClr val="4F6763"/>
                </a:solidFill>
                <a:latin typeface="Calibri"/>
              </a:rPr>
              <a:t>It opens automatically on a free port, shown in the console window — so it never clashes with another app.</a:t>
            </a:r>
          </a:p>
        </p:txBody>
      </p:sp>
      <p:sp>
        <p:nvSpPr>
          <p:cNvPr id="13" name="Rounded Rectangle 12"/>
          <p:cNvSpPr/>
          <p:nvPr/>
        </p:nvSpPr>
        <p:spPr>
          <a:xfrm>
            <a:off x="777240" y="5623560"/>
            <a:ext cx="10607040" cy="658368"/>
          </a:xfrm>
          <a:prstGeom prst="roundRect">
            <a:avLst/>
          </a:prstGeom>
          <a:solidFill>
            <a:srgbClr val="E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5788152"/>
            <a:ext cx="10058400" cy="36576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Keep the black console window open while you work. </a:t>
            </a:r>
            <a:r>
              <a:rPr sz="1350" b="0">
                <a:solidFill>
                  <a:srgbClr val="0D2D2A"/>
                </a:solidFill>
                <a:latin typeface="Calibri"/>
              </a:rPr>
              <a:t>Closing it stops the app.</a:t>
            </a:r>
          </a:p>
        </p:txBody>
      </p:sp>
      <p:sp>
        <p:nvSpPr>
          <p:cNvPr id="15" name="TextBox 14"/>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16" name="TextBox 15"/>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If the app can't find R</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A one-time Setup screen appears — you can also reopen it any time</a:t>
            </a:r>
          </a:p>
        </p:txBody>
      </p:sp>
      <p:sp>
        <p:nvSpPr>
          <p:cNvPr id="4" name="Rounded Rectangle 3"/>
          <p:cNvSpPr/>
          <p:nvPr/>
        </p:nvSpPr>
        <p:spPr>
          <a:xfrm>
            <a:off x="685800" y="1965960"/>
            <a:ext cx="10789920" cy="22860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2240280"/>
            <a:ext cx="100584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D2D2A"/>
                </a:solidFill>
                <a:latin typeface="Calibri"/>
              </a:rPr>
              <a:t>You have three ways to point it at R:</a:t>
            </a:r>
          </a:p>
        </p:txBody>
      </p:sp>
      <p:sp>
        <p:nvSpPr>
          <p:cNvPr id="6" name="Oval 5"/>
          <p:cNvSpPr/>
          <p:nvPr/>
        </p:nvSpPr>
        <p:spPr>
          <a:xfrm>
            <a:off x="1097280" y="2761488"/>
            <a:ext cx="310896" cy="3108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7" name="TextBox 6"/>
          <p:cNvSpPr txBox="1"/>
          <p:nvPr/>
        </p:nvSpPr>
        <p:spPr>
          <a:xfrm>
            <a:off x="1572768" y="2743200"/>
            <a:ext cx="26517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Pick from the list</a:t>
            </a:r>
          </a:p>
        </p:txBody>
      </p:sp>
      <p:sp>
        <p:nvSpPr>
          <p:cNvPr id="8" name="TextBox 7"/>
          <p:cNvSpPr txBox="1"/>
          <p:nvPr/>
        </p:nvSpPr>
        <p:spPr>
          <a:xfrm>
            <a:off x="4114800" y="2743200"/>
            <a:ext cx="7040880" cy="27432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Any R installation found on the computer is listed — click one.</a:t>
            </a:r>
          </a:p>
        </p:txBody>
      </p:sp>
      <p:sp>
        <p:nvSpPr>
          <p:cNvPr id="9" name="Oval 8"/>
          <p:cNvSpPr/>
          <p:nvPr/>
        </p:nvSpPr>
        <p:spPr>
          <a:xfrm>
            <a:off x="1097280" y="3236976"/>
            <a:ext cx="310896" cy="3108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10" name="TextBox 9"/>
          <p:cNvSpPr txBox="1"/>
          <p:nvPr/>
        </p:nvSpPr>
        <p:spPr>
          <a:xfrm>
            <a:off x="1572768" y="3218688"/>
            <a:ext cx="26517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Browse…</a:t>
            </a:r>
          </a:p>
        </p:txBody>
      </p:sp>
      <p:sp>
        <p:nvSpPr>
          <p:cNvPr id="11" name="TextBox 10"/>
          <p:cNvSpPr txBox="1"/>
          <p:nvPr/>
        </p:nvSpPr>
        <p:spPr>
          <a:xfrm>
            <a:off x="4114800" y="3218688"/>
            <a:ext cx="7040880" cy="27432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Opens a file picker. Choose Rscript.exe inside R's bin folder.</a:t>
            </a:r>
          </a:p>
        </p:txBody>
      </p:sp>
      <p:sp>
        <p:nvSpPr>
          <p:cNvPr id="12" name="Oval 11"/>
          <p:cNvSpPr/>
          <p:nvPr/>
        </p:nvSpPr>
        <p:spPr>
          <a:xfrm>
            <a:off x="1097280" y="3712463"/>
            <a:ext cx="310896" cy="3108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13" name="TextBox 12"/>
          <p:cNvSpPr txBox="1"/>
          <p:nvPr/>
        </p:nvSpPr>
        <p:spPr>
          <a:xfrm>
            <a:off x="1572768" y="3694176"/>
            <a:ext cx="26517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Paste the path</a:t>
            </a:r>
          </a:p>
        </p:txBody>
      </p:sp>
      <p:sp>
        <p:nvSpPr>
          <p:cNvPr id="14" name="TextBox 13"/>
          <p:cNvSpPr txBox="1"/>
          <p:nvPr/>
        </p:nvSpPr>
        <p:spPr>
          <a:xfrm>
            <a:off x="4114800" y="3694176"/>
            <a:ext cx="7040880" cy="27432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Type it in and press Use this.</a:t>
            </a:r>
          </a:p>
        </p:txBody>
      </p:sp>
      <p:sp>
        <p:nvSpPr>
          <p:cNvPr id="15" name="TextBox 14"/>
          <p:cNvSpPr txBox="1"/>
          <p:nvPr/>
        </p:nvSpPr>
        <p:spPr>
          <a:xfrm>
            <a:off x="685800" y="4526280"/>
            <a:ext cx="10789920" cy="365760"/>
          </a:xfrm>
          <a:prstGeom prst="rect">
            <a:avLst/>
          </a:prstGeom>
          <a:noFill/>
        </p:spPr>
        <p:txBody>
          <a:bodyPr wrap="square" lIns="0" rIns="0" tIns="0" bIns="0" anchor="t">
            <a:spAutoFit/>
          </a:bodyPr>
          <a:lstStyle/>
          <a:p>
            <a:pPr algn="l">
              <a:lnSpc>
                <a:spcPct val="115000"/>
              </a:lnSpc>
              <a:spcAft>
                <a:spcPts val="600"/>
              </a:spcAft>
            </a:pPr>
            <a:r>
              <a:rPr sz="1400" b="0">
                <a:solidFill>
                  <a:srgbClr val="0D2D2A"/>
                </a:solidFill>
                <a:latin typeface="Calibri"/>
              </a:rPr>
              <a:t>The app checks the choice immediately and reports the R version it found, with a warning if it is not 4.5.x.</a:t>
            </a:r>
          </a:p>
        </p:txBody>
      </p:sp>
      <p:sp>
        <p:nvSpPr>
          <p:cNvPr id="16" name="Rounded Rectangle 15"/>
          <p:cNvSpPr/>
          <p:nvPr/>
        </p:nvSpPr>
        <p:spPr>
          <a:xfrm>
            <a:off x="685800" y="5029200"/>
            <a:ext cx="10789920" cy="777240"/>
          </a:xfrm>
          <a:prstGeom prst="roundRect">
            <a:avLst/>
          </a:prstGeom>
          <a:solidFill>
            <a:srgbClr val="E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51560" y="5230368"/>
            <a:ext cx="10058400" cy="54864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No R at all?  </a:t>
            </a:r>
            <a:r>
              <a:rPr sz="1350" b="0">
                <a:solidFill>
                  <a:srgbClr val="0D2D2A"/>
                </a:solidFill>
                <a:latin typeface="Calibri"/>
              </a:rPr>
              <a:t>Install R 4.5.2 for Windows from cran.r-project.org/bin/windows/base/old/4.5.2/ (the main CRAN page offers a newer R), then click Re-check. No extra R packages are ever needed — this app brings its own.</a:t>
            </a:r>
          </a:p>
        </p:txBody>
      </p:sp>
      <p:sp>
        <p:nvSpPr>
          <p:cNvPr id="18" name="TextBox 17"/>
          <p:cNvSpPr txBox="1"/>
          <p:nvPr/>
        </p:nvSpPr>
        <p:spPr>
          <a:xfrm>
            <a:off x="685800" y="5943600"/>
            <a:ext cx="10789920" cy="320040"/>
          </a:xfrm>
          <a:prstGeom prst="rect">
            <a:avLst/>
          </a:prstGeom>
          <a:noFill/>
        </p:spPr>
        <p:txBody>
          <a:bodyPr wrap="square" lIns="0" rIns="0" tIns="0" bIns="0" anchor="t">
            <a:spAutoFit/>
          </a:bodyPr>
          <a:lstStyle/>
          <a:p>
            <a:pPr algn="l">
              <a:lnSpc>
                <a:spcPct val="115000"/>
              </a:lnSpc>
              <a:spcAft>
                <a:spcPts val="600"/>
              </a:spcAft>
            </a:pPr>
            <a:r>
              <a:rPr sz="1250" b="0">
                <a:solidFill>
                  <a:srgbClr val="4F6763"/>
                </a:solidFill>
                <a:latin typeface="Calibri"/>
              </a:rPr>
              <a:t>Reopen later with the  ⚙ R setup  button at the top right.</a:t>
            </a:r>
          </a:p>
        </p:txBody>
      </p:sp>
      <p:sp>
        <p:nvSpPr>
          <p:cNvPr id="19" name="TextBox 18"/>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20" name="TextBox 19"/>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The workflow</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Eight tabs, left to right — top to bottom here</a:t>
            </a:r>
          </a:p>
        </p:txBody>
      </p:sp>
      <p:sp>
        <p:nvSpPr>
          <p:cNvPr id="4" name="Rounded Rectangle 3"/>
          <p:cNvSpPr/>
          <p:nvPr/>
        </p:nvSpPr>
        <p:spPr>
          <a:xfrm>
            <a:off x="685800" y="2011680"/>
            <a:ext cx="2514600" cy="1645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941832" y="2267712"/>
            <a:ext cx="438912" cy="43891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1</a:t>
            </a:r>
          </a:p>
        </p:txBody>
      </p:sp>
      <p:sp>
        <p:nvSpPr>
          <p:cNvPr id="6" name="TextBox 5"/>
          <p:cNvSpPr txBox="1"/>
          <p:nvPr/>
        </p:nvSpPr>
        <p:spPr>
          <a:xfrm>
            <a:off x="941832" y="2834640"/>
            <a:ext cx="2011680" cy="32004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Data &amp; Groups</a:t>
            </a:r>
          </a:p>
        </p:txBody>
      </p:sp>
      <p:sp>
        <p:nvSpPr>
          <p:cNvPr id="7" name="TextBox 6"/>
          <p:cNvSpPr txBox="1"/>
          <p:nvPr/>
        </p:nvSpPr>
        <p:spPr>
          <a:xfrm>
            <a:off x="941832" y="3163824"/>
            <a:ext cx="2057400" cy="411480"/>
          </a:xfrm>
          <a:prstGeom prst="rect">
            <a:avLst/>
          </a:prstGeom>
          <a:noFill/>
        </p:spPr>
        <p:txBody>
          <a:bodyPr wrap="square" lIns="0" rIns="0" tIns="0" bIns="0" anchor="t">
            <a:spAutoFit/>
          </a:bodyPr>
          <a:lstStyle/>
          <a:p>
            <a:pPr algn="l">
              <a:lnSpc>
                <a:spcPct val="115000"/>
              </a:lnSpc>
              <a:spcAft>
                <a:spcPts val="600"/>
              </a:spcAft>
            </a:pPr>
            <a:r>
              <a:rPr sz="1150" b="0">
                <a:solidFill>
                  <a:srgbClr val="4F6763"/>
                </a:solidFill>
                <a:latin typeface="Calibri"/>
              </a:rPr>
              <a:t>Load Excel, define groups</a:t>
            </a:r>
          </a:p>
        </p:txBody>
      </p:sp>
      <p:sp>
        <p:nvSpPr>
          <p:cNvPr id="8" name="Rounded Rectangle 7"/>
          <p:cNvSpPr/>
          <p:nvPr/>
        </p:nvSpPr>
        <p:spPr>
          <a:xfrm>
            <a:off x="3429000" y="2011680"/>
            <a:ext cx="2514600" cy="1645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3685032" y="2267712"/>
            <a:ext cx="438912" cy="43891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2</a:t>
            </a:r>
          </a:p>
        </p:txBody>
      </p:sp>
      <p:sp>
        <p:nvSpPr>
          <p:cNvPr id="10" name="TextBox 9"/>
          <p:cNvSpPr txBox="1"/>
          <p:nvPr/>
        </p:nvSpPr>
        <p:spPr>
          <a:xfrm>
            <a:off x="3685032" y="2834640"/>
            <a:ext cx="2011680" cy="32004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Variables &amp; Types</a:t>
            </a:r>
          </a:p>
        </p:txBody>
      </p:sp>
      <p:sp>
        <p:nvSpPr>
          <p:cNvPr id="11" name="TextBox 10"/>
          <p:cNvSpPr txBox="1"/>
          <p:nvPr/>
        </p:nvSpPr>
        <p:spPr>
          <a:xfrm>
            <a:off x="3685032" y="3163824"/>
            <a:ext cx="2057400" cy="411480"/>
          </a:xfrm>
          <a:prstGeom prst="rect">
            <a:avLst/>
          </a:prstGeom>
          <a:noFill/>
        </p:spPr>
        <p:txBody>
          <a:bodyPr wrap="square" lIns="0" rIns="0" tIns="0" bIns="0" anchor="t">
            <a:spAutoFit/>
          </a:bodyPr>
          <a:lstStyle/>
          <a:p>
            <a:pPr algn="l">
              <a:lnSpc>
                <a:spcPct val="115000"/>
              </a:lnSpc>
              <a:spcAft>
                <a:spcPts val="600"/>
              </a:spcAft>
            </a:pPr>
            <a:r>
              <a:rPr sz="1150" b="0">
                <a:solidFill>
                  <a:srgbClr val="4F6763"/>
                </a:solidFill>
                <a:latin typeface="Calibri"/>
              </a:rPr>
              <a:t>Sections, types, VA notation</a:t>
            </a:r>
          </a:p>
        </p:txBody>
      </p:sp>
      <p:sp>
        <p:nvSpPr>
          <p:cNvPr id="12" name="Rounded Rectangle 11"/>
          <p:cNvSpPr/>
          <p:nvPr/>
        </p:nvSpPr>
        <p:spPr>
          <a:xfrm>
            <a:off x="6172200" y="2011680"/>
            <a:ext cx="2514600" cy="1645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28232" y="2267712"/>
            <a:ext cx="438912" cy="43891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3</a:t>
            </a:r>
          </a:p>
        </p:txBody>
      </p:sp>
      <p:sp>
        <p:nvSpPr>
          <p:cNvPr id="14" name="TextBox 13"/>
          <p:cNvSpPr txBox="1"/>
          <p:nvPr/>
        </p:nvSpPr>
        <p:spPr>
          <a:xfrm>
            <a:off x="6428232" y="2834640"/>
            <a:ext cx="2011680" cy="32004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Filters &amp; Subsets</a:t>
            </a:r>
          </a:p>
        </p:txBody>
      </p:sp>
      <p:sp>
        <p:nvSpPr>
          <p:cNvPr id="15" name="TextBox 14"/>
          <p:cNvSpPr txBox="1"/>
          <p:nvPr/>
        </p:nvSpPr>
        <p:spPr>
          <a:xfrm>
            <a:off x="6428232" y="3163824"/>
            <a:ext cx="2057400" cy="411480"/>
          </a:xfrm>
          <a:prstGeom prst="rect">
            <a:avLst/>
          </a:prstGeom>
          <a:noFill/>
        </p:spPr>
        <p:txBody>
          <a:bodyPr wrap="square" lIns="0" rIns="0" tIns="0" bIns="0" anchor="t">
            <a:spAutoFit/>
          </a:bodyPr>
          <a:lstStyle/>
          <a:p>
            <a:pPr algn="l">
              <a:lnSpc>
                <a:spcPct val="115000"/>
              </a:lnSpc>
              <a:spcAft>
                <a:spcPts val="600"/>
              </a:spcAft>
            </a:pPr>
            <a:r>
              <a:rPr sz="1150" b="0">
                <a:solidFill>
                  <a:srgbClr val="4F6763"/>
                </a:solidFill>
                <a:latin typeface="Calibri"/>
              </a:rPr>
              <a:t>Inclusion rules + subsets</a:t>
            </a:r>
          </a:p>
        </p:txBody>
      </p:sp>
      <p:sp>
        <p:nvSpPr>
          <p:cNvPr id="16" name="Rounded Rectangle 15"/>
          <p:cNvSpPr/>
          <p:nvPr/>
        </p:nvSpPr>
        <p:spPr>
          <a:xfrm>
            <a:off x="8915400" y="2011680"/>
            <a:ext cx="2514600" cy="1645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9171432" y="2267712"/>
            <a:ext cx="438912" cy="43891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4</a:t>
            </a:r>
          </a:p>
        </p:txBody>
      </p:sp>
      <p:sp>
        <p:nvSpPr>
          <p:cNvPr id="18" name="TextBox 17"/>
          <p:cNvSpPr txBox="1"/>
          <p:nvPr/>
        </p:nvSpPr>
        <p:spPr>
          <a:xfrm>
            <a:off x="9171432" y="2834640"/>
            <a:ext cx="2011680" cy="32004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Matching</a:t>
            </a:r>
          </a:p>
        </p:txBody>
      </p:sp>
      <p:sp>
        <p:nvSpPr>
          <p:cNvPr id="19" name="TextBox 18"/>
          <p:cNvSpPr txBox="1"/>
          <p:nvPr/>
        </p:nvSpPr>
        <p:spPr>
          <a:xfrm>
            <a:off x="9171432" y="3163824"/>
            <a:ext cx="2057400" cy="411480"/>
          </a:xfrm>
          <a:prstGeom prst="rect">
            <a:avLst/>
          </a:prstGeom>
          <a:noFill/>
        </p:spPr>
        <p:txBody>
          <a:bodyPr wrap="square" lIns="0" rIns="0" tIns="0" bIns="0" anchor="t">
            <a:spAutoFit/>
          </a:bodyPr>
          <a:lstStyle/>
          <a:p>
            <a:pPr algn="l">
              <a:lnSpc>
                <a:spcPct val="115000"/>
              </a:lnSpc>
              <a:spcAft>
                <a:spcPts val="600"/>
              </a:spcAft>
            </a:pPr>
            <a:r>
              <a:rPr sz="1150" b="0">
                <a:solidFill>
                  <a:srgbClr val="4F6763"/>
                </a:solidFill>
                <a:latin typeface="Calibri"/>
              </a:rPr>
              <a:t>Propensity-score matching</a:t>
            </a:r>
          </a:p>
        </p:txBody>
      </p:sp>
      <p:sp>
        <p:nvSpPr>
          <p:cNvPr id="20" name="Rounded Rectangle 19"/>
          <p:cNvSpPr/>
          <p:nvPr/>
        </p:nvSpPr>
        <p:spPr>
          <a:xfrm>
            <a:off x="685800" y="3931920"/>
            <a:ext cx="2514600" cy="1645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941832" y="4187952"/>
            <a:ext cx="438912" cy="43891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5</a:t>
            </a:r>
          </a:p>
        </p:txBody>
      </p:sp>
      <p:sp>
        <p:nvSpPr>
          <p:cNvPr id="22" name="TextBox 21"/>
          <p:cNvSpPr txBox="1"/>
          <p:nvPr/>
        </p:nvSpPr>
        <p:spPr>
          <a:xfrm>
            <a:off x="941832" y="4754880"/>
            <a:ext cx="2011680" cy="32004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Regression</a:t>
            </a:r>
          </a:p>
        </p:txBody>
      </p:sp>
      <p:sp>
        <p:nvSpPr>
          <p:cNvPr id="23" name="TextBox 22"/>
          <p:cNvSpPr txBox="1"/>
          <p:nvPr/>
        </p:nvSpPr>
        <p:spPr>
          <a:xfrm>
            <a:off x="941832" y="5084064"/>
            <a:ext cx="2057400" cy="411480"/>
          </a:xfrm>
          <a:prstGeom prst="rect">
            <a:avLst/>
          </a:prstGeom>
          <a:noFill/>
        </p:spPr>
        <p:txBody>
          <a:bodyPr wrap="square" lIns="0" rIns="0" tIns="0" bIns="0" anchor="t">
            <a:spAutoFit/>
          </a:bodyPr>
          <a:lstStyle/>
          <a:p>
            <a:pPr algn="l">
              <a:lnSpc>
                <a:spcPct val="115000"/>
              </a:lnSpc>
              <a:spcAft>
                <a:spcPts val="600"/>
              </a:spcAft>
            </a:pPr>
            <a:r>
              <a:rPr sz="1150" b="0">
                <a:solidFill>
                  <a:srgbClr val="4F6763"/>
                </a:solidFill>
                <a:latin typeface="Calibri"/>
              </a:rPr>
              <a:t>Adjusted GEE</a:t>
            </a:r>
          </a:p>
        </p:txBody>
      </p:sp>
      <p:sp>
        <p:nvSpPr>
          <p:cNvPr id="24" name="Rounded Rectangle 23"/>
          <p:cNvSpPr/>
          <p:nvPr/>
        </p:nvSpPr>
        <p:spPr>
          <a:xfrm>
            <a:off x="3429000" y="3931920"/>
            <a:ext cx="2514600" cy="1645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3685032" y="4187952"/>
            <a:ext cx="438912" cy="43891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6</a:t>
            </a:r>
          </a:p>
        </p:txBody>
      </p:sp>
      <p:sp>
        <p:nvSpPr>
          <p:cNvPr id="26" name="TextBox 25"/>
          <p:cNvSpPr txBox="1"/>
          <p:nvPr/>
        </p:nvSpPr>
        <p:spPr>
          <a:xfrm>
            <a:off x="3685032" y="4754880"/>
            <a:ext cx="2011680" cy="32004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GEE</a:t>
            </a:r>
          </a:p>
        </p:txBody>
      </p:sp>
      <p:sp>
        <p:nvSpPr>
          <p:cNvPr id="27" name="TextBox 26"/>
          <p:cNvSpPr txBox="1"/>
          <p:nvPr/>
        </p:nvSpPr>
        <p:spPr>
          <a:xfrm>
            <a:off x="3685032" y="5084064"/>
            <a:ext cx="2057400" cy="411480"/>
          </a:xfrm>
          <a:prstGeom prst="rect">
            <a:avLst/>
          </a:prstGeom>
          <a:noFill/>
        </p:spPr>
        <p:txBody>
          <a:bodyPr wrap="square" lIns="0" rIns="0" tIns="0" bIns="0" anchor="t">
            <a:spAutoFit/>
          </a:bodyPr>
          <a:lstStyle/>
          <a:p>
            <a:pPr algn="l">
              <a:lnSpc>
                <a:spcPct val="115000"/>
              </a:lnSpc>
              <a:spcAft>
                <a:spcPts val="600"/>
              </a:spcAft>
            </a:pPr>
            <a:r>
              <a:rPr sz="1150" b="0">
                <a:solidFill>
                  <a:srgbClr val="4F6763"/>
                </a:solidFill>
                <a:latin typeface="Calibri"/>
              </a:rPr>
              <a:t>Clustered models, table tests, P style</a:t>
            </a:r>
          </a:p>
        </p:txBody>
      </p:sp>
      <p:sp>
        <p:nvSpPr>
          <p:cNvPr id="28" name="Rounded Rectangle 27"/>
          <p:cNvSpPr/>
          <p:nvPr/>
        </p:nvSpPr>
        <p:spPr>
          <a:xfrm>
            <a:off x="6172200" y="3931920"/>
            <a:ext cx="2514600" cy="1645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428232" y="4187952"/>
            <a:ext cx="438912" cy="43891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7</a:t>
            </a:r>
          </a:p>
        </p:txBody>
      </p:sp>
      <p:sp>
        <p:nvSpPr>
          <p:cNvPr id="30" name="TextBox 29"/>
          <p:cNvSpPr txBox="1"/>
          <p:nvPr/>
        </p:nvSpPr>
        <p:spPr>
          <a:xfrm>
            <a:off x="6428232" y="4754880"/>
            <a:ext cx="2011680" cy="32004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Special outputs</a:t>
            </a:r>
          </a:p>
        </p:txBody>
      </p:sp>
      <p:sp>
        <p:nvSpPr>
          <p:cNvPr id="31" name="TextBox 30"/>
          <p:cNvSpPr txBox="1"/>
          <p:nvPr/>
        </p:nvSpPr>
        <p:spPr>
          <a:xfrm>
            <a:off x="6428232" y="5084064"/>
            <a:ext cx="2057400" cy="411480"/>
          </a:xfrm>
          <a:prstGeom prst="rect">
            <a:avLst/>
          </a:prstGeom>
          <a:noFill/>
        </p:spPr>
        <p:txBody>
          <a:bodyPr wrap="square" lIns="0" rIns="0" tIns="0" bIns="0" anchor="t">
            <a:spAutoFit/>
          </a:bodyPr>
          <a:lstStyle/>
          <a:p>
            <a:pPr algn="l">
              <a:lnSpc>
                <a:spcPct val="115000"/>
              </a:lnSpc>
              <a:spcAft>
                <a:spcPts val="600"/>
              </a:spcAft>
            </a:pPr>
            <a:r>
              <a:rPr sz="1150" b="0">
                <a:solidFill>
                  <a:srgbClr val="4F6763"/>
                </a:solidFill>
                <a:latin typeface="Calibri"/>
              </a:rPr>
              <a:t>Figures, astigmatism, column roles</a:t>
            </a:r>
          </a:p>
        </p:txBody>
      </p:sp>
      <p:sp>
        <p:nvSpPr>
          <p:cNvPr id="32" name="Rounded Rectangle 31"/>
          <p:cNvSpPr/>
          <p:nvPr/>
        </p:nvSpPr>
        <p:spPr>
          <a:xfrm>
            <a:off x="8915400" y="3931920"/>
            <a:ext cx="2514600" cy="164592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171432" y="4187952"/>
            <a:ext cx="438912" cy="43891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8</a:t>
            </a:r>
          </a:p>
        </p:txBody>
      </p:sp>
      <p:sp>
        <p:nvSpPr>
          <p:cNvPr id="34" name="TextBox 33"/>
          <p:cNvSpPr txBox="1"/>
          <p:nvPr/>
        </p:nvSpPr>
        <p:spPr>
          <a:xfrm>
            <a:off x="9171432" y="4754880"/>
            <a:ext cx="2011680" cy="32004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Run &amp; Results</a:t>
            </a:r>
          </a:p>
        </p:txBody>
      </p:sp>
      <p:sp>
        <p:nvSpPr>
          <p:cNvPr id="35" name="TextBox 34"/>
          <p:cNvSpPr txBox="1"/>
          <p:nvPr/>
        </p:nvSpPr>
        <p:spPr>
          <a:xfrm>
            <a:off x="9171432" y="5084064"/>
            <a:ext cx="2057400" cy="411480"/>
          </a:xfrm>
          <a:prstGeom prst="rect">
            <a:avLst/>
          </a:prstGeom>
          <a:noFill/>
        </p:spPr>
        <p:txBody>
          <a:bodyPr wrap="square" lIns="0" rIns="0" tIns="0" bIns="0" anchor="t">
            <a:spAutoFit/>
          </a:bodyPr>
          <a:lstStyle/>
          <a:p>
            <a:pPr algn="l">
              <a:lnSpc>
                <a:spcPct val="115000"/>
              </a:lnSpc>
              <a:spcAft>
                <a:spcPts val="600"/>
              </a:spcAft>
            </a:pPr>
            <a:r>
              <a:rPr sz="1150" b="0">
                <a:solidFill>
                  <a:srgbClr val="4F6763"/>
                </a:solidFill>
                <a:latin typeface="Calibri"/>
              </a:rPr>
              <a:t>Check, run, preview, save</a:t>
            </a:r>
          </a:p>
        </p:txBody>
      </p:sp>
      <p:sp>
        <p:nvSpPr>
          <p:cNvPr id="36" name="TextBox 35"/>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37" name="TextBox 36"/>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Steps 1–2 · Data and variables</a:t>
            </a:r>
          </a:p>
        </p:txBody>
      </p:sp>
      <p:sp>
        <p:nvSpPr>
          <p:cNvPr id="3" name="Rounded Rectangle 2"/>
          <p:cNvSpPr/>
          <p:nvPr/>
        </p:nvSpPr>
        <p:spPr>
          <a:xfrm>
            <a:off x="685800" y="1874519"/>
            <a:ext cx="5257800" cy="4315968"/>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05840" y="2148840"/>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1</a:t>
            </a:r>
          </a:p>
        </p:txBody>
      </p:sp>
      <p:sp>
        <p:nvSpPr>
          <p:cNvPr id="5" name="TextBox 4"/>
          <p:cNvSpPr txBox="1"/>
          <p:nvPr/>
        </p:nvSpPr>
        <p:spPr>
          <a:xfrm>
            <a:off x="1664208" y="2240280"/>
            <a:ext cx="4023360" cy="320040"/>
          </a:xfrm>
          <a:prstGeom prst="rect">
            <a:avLst/>
          </a:prstGeom>
          <a:noFill/>
        </p:spPr>
        <p:txBody>
          <a:bodyPr wrap="square" lIns="0" rIns="0" tIns="0" bIns="0" anchor="t">
            <a:spAutoFit/>
          </a:bodyPr>
          <a:lstStyle/>
          <a:p>
            <a:pPr algn="l">
              <a:lnSpc>
                <a:spcPct val="115000"/>
              </a:lnSpc>
              <a:spcAft>
                <a:spcPts val="600"/>
              </a:spcAft>
            </a:pPr>
            <a:r>
              <a:rPr sz="1900" b="1">
                <a:solidFill>
                  <a:srgbClr val="0D2D2A"/>
                </a:solidFill>
                <a:latin typeface="Cambria"/>
              </a:rPr>
              <a:t>Data &amp; Groups</a:t>
            </a:r>
          </a:p>
        </p:txBody>
      </p:sp>
      <p:sp>
        <p:nvSpPr>
          <p:cNvPr id="6" name="TextBox 5"/>
          <p:cNvSpPr txBox="1"/>
          <p:nvPr/>
        </p:nvSpPr>
        <p:spPr>
          <a:xfrm>
            <a:off x="1005840" y="2880360"/>
            <a:ext cx="4617720" cy="2743200"/>
          </a:xfrm>
          <a:prstGeom prst="rect">
            <a:avLst/>
          </a:prstGeom>
          <a:noFill/>
        </p:spPr>
        <p:txBody>
          <a:bodyPr wrap="square" lIns="0" rIns="0" tIns="0" bIns="0" anchor="t">
            <a:spAutoFit/>
          </a:bodyPr>
          <a:lstStyle/>
          <a:p>
            <a:pPr algn="l">
              <a:lnSpc>
                <a:spcPct val="115000"/>
              </a:lnSpc>
              <a:spcAft>
                <a:spcPts val="200"/>
              </a:spcAft>
            </a:pPr>
            <a:r>
              <a:rPr sz="1250" b="0">
                <a:solidFill>
                  <a:srgbClr val="0D2D2A"/>
                </a:solidFill>
                <a:latin typeface="Calibri"/>
              </a:rPr>
              <a:t>Load your Excel file (.xlsx or .xlsm) with Browse &amp; load Excel in the left sidebar, then pick the sheet. The file stays on your computer.</a:t>
            </a:r>
          </a:p>
          <a:p>
            <a:pPr algn="l">
              <a:lnSpc>
                <a:spcPct val="115000"/>
              </a:lnSpc>
              <a:spcAft>
                <a:spcPts val="200"/>
              </a:spcAft>
            </a:pPr>
            <a:r>
              <a:rPr sz="1250" b="0">
                <a:solidFill>
                  <a:srgbClr val="0D2D2A"/>
                </a:solidFill>
                <a:latin typeface="Calibri"/>
              </a:rPr>
              <a:t/>
            </a:r>
          </a:p>
          <a:p>
            <a:pPr algn="l">
              <a:lnSpc>
                <a:spcPct val="115000"/>
              </a:lnSpc>
              <a:spcAft>
                <a:spcPts val="200"/>
              </a:spcAft>
            </a:pPr>
            <a:r>
              <a:rPr sz="1250" b="0">
                <a:solidFill>
                  <a:srgbClr val="0D2D2A"/>
                </a:solidFill>
                <a:latin typeface="Calibri"/>
              </a:rPr>
              <a:t>Choose the column that defines the groups, then map its values into the groups you want to compare (in the example: Reference, Cohort A, Cohort B).</a:t>
            </a:r>
          </a:p>
          <a:p>
            <a:pPr algn="l">
              <a:lnSpc>
                <a:spcPct val="115000"/>
              </a:lnSpc>
              <a:spcAft>
                <a:spcPts val="200"/>
              </a:spcAft>
            </a:pPr>
            <a:r>
              <a:rPr sz="1250" b="0">
                <a:solidFill>
                  <a:srgbClr val="0D2D2A"/>
                </a:solidFill>
                <a:latin typeface="Calibri"/>
              </a:rPr>
              <a:t/>
            </a:r>
          </a:p>
          <a:p>
            <a:pPr algn="l">
              <a:lnSpc>
                <a:spcPct val="115000"/>
              </a:lnSpc>
              <a:spcAft>
                <a:spcPts val="200"/>
              </a:spcAft>
            </a:pPr>
            <a:r>
              <a:rPr sz="1250" b="0">
                <a:solidFill>
                  <a:srgbClr val="0D2D2A"/>
                </a:solidFill>
                <a:latin typeface="Calibri"/>
              </a:rPr>
              <a:t>Set the reference group. Matching, GEE, regression and the versus-reference lines of tables and figures compare each group with it.</a:t>
            </a:r>
          </a:p>
          <a:p>
            <a:pPr algn="l">
              <a:lnSpc>
                <a:spcPct val="115000"/>
              </a:lnSpc>
              <a:spcAft>
                <a:spcPts val="200"/>
              </a:spcAft>
            </a:pPr>
            <a:r>
              <a:rPr sz="1250" b="0">
                <a:solidFill>
                  <a:srgbClr val="0D2D2A"/>
                </a:solidFill>
                <a:latin typeface="Calibri"/>
              </a:rPr>
              <a:t/>
            </a:r>
          </a:p>
          <a:p>
            <a:pPr algn="l">
              <a:lnSpc>
                <a:spcPct val="115000"/>
              </a:lnSpc>
              <a:spcAft>
                <a:spcPts val="200"/>
              </a:spcAft>
            </a:pPr>
            <a:r>
              <a:rPr sz="1250" b="0">
                <a:solidFill>
                  <a:srgbClr val="0D2D2A"/>
                </a:solidFill>
                <a:latin typeface="Calibri"/>
              </a:rPr>
              <a:t>Also set the patient ID, so both eyes of one patient are clustered correctly.</a:t>
            </a:r>
          </a:p>
        </p:txBody>
      </p:sp>
      <p:sp>
        <p:nvSpPr>
          <p:cNvPr id="7" name="Rounded Rectangle 6"/>
          <p:cNvSpPr/>
          <p:nvPr/>
        </p:nvSpPr>
        <p:spPr>
          <a:xfrm>
            <a:off x="6217920" y="1874519"/>
            <a:ext cx="5257800" cy="4315968"/>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6537960" y="2148840"/>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2</a:t>
            </a:r>
          </a:p>
        </p:txBody>
      </p:sp>
      <p:sp>
        <p:nvSpPr>
          <p:cNvPr id="9" name="TextBox 8"/>
          <p:cNvSpPr txBox="1"/>
          <p:nvPr/>
        </p:nvSpPr>
        <p:spPr>
          <a:xfrm>
            <a:off x="7196328" y="2240280"/>
            <a:ext cx="4023360" cy="320040"/>
          </a:xfrm>
          <a:prstGeom prst="rect">
            <a:avLst/>
          </a:prstGeom>
          <a:noFill/>
        </p:spPr>
        <p:txBody>
          <a:bodyPr wrap="square" lIns="0" rIns="0" tIns="0" bIns="0" anchor="t">
            <a:spAutoFit/>
          </a:bodyPr>
          <a:lstStyle/>
          <a:p>
            <a:pPr algn="l">
              <a:lnSpc>
                <a:spcPct val="115000"/>
              </a:lnSpc>
              <a:spcAft>
                <a:spcPts val="600"/>
              </a:spcAft>
            </a:pPr>
            <a:r>
              <a:rPr sz="1900" b="1">
                <a:solidFill>
                  <a:srgbClr val="0D2D2A"/>
                </a:solidFill>
                <a:latin typeface="Cambria"/>
              </a:rPr>
              <a:t>Variables &amp; Types</a:t>
            </a:r>
          </a:p>
        </p:txBody>
      </p:sp>
      <p:sp>
        <p:nvSpPr>
          <p:cNvPr id="10" name="TextBox 9"/>
          <p:cNvSpPr txBox="1"/>
          <p:nvPr/>
        </p:nvSpPr>
        <p:spPr>
          <a:xfrm>
            <a:off x="6537960" y="2880360"/>
            <a:ext cx="4617720" cy="2743200"/>
          </a:xfrm>
          <a:prstGeom prst="rect">
            <a:avLst/>
          </a:prstGeom>
          <a:noFill/>
        </p:spPr>
        <p:txBody>
          <a:bodyPr wrap="square" lIns="0" rIns="0" tIns="0" bIns="0" anchor="t">
            <a:spAutoFit/>
          </a:bodyPr>
          <a:lstStyle/>
          <a:p>
            <a:pPr algn="l">
              <a:lnSpc>
                <a:spcPct val="115000"/>
              </a:lnSpc>
              <a:spcAft>
                <a:spcPts val="200"/>
              </a:spcAft>
            </a:pPr>
            <a:r>
              <a:rPr sz="1250" b="0">
                <a:solidFill>
                  <a:srgbClr val="0D2D2A"/>
                </a:solidFill>
                <a:latin typeface="Calibri"/>
              </a:rPr>
              <a:t>Put each variable into Baseline, Preop / Intraop or Outcome, and give it a type: continuous · ordinal · dichotomous · categorical.</a:t>
            </a:r>
          </a:p>
          <a:p>
            <a:pPr algn="l">
              <a:lnSpc>
                <a:spcPct val="115000"/>
              </a:lnSpc>
              <a:spcAft>
                <a:spcPts val="200"/>
              </a:spcAft>
            </a:pPr>
            <a:r>
              <a:rPr sz="1250" b="0">
                <a:solidFill>
                  <a:srgbClr val="0D2D2A"/>
                </a:solidFill>
                <a:latin typeface="Calibri"/>
              </a:rPr>
              <a:t/>
            </a:r>
          </a:p>
          <a:p>
            <a:pPr algn="l">
              <a:lnSpc>
                <a:spcPct val="115000"/>
              </a:lnSpc>
              <a:spcAft>
                <a:spcPts val="200"/>
              </a:spcAft>
            </a:pPr>
            <a:r>
              <a:rPr sz="1250" b="0">
                <a:solidFill>
                  <a:srgbClr val="0D2D2A"/>
                </a:solidFill>
                <a:latin typeface="Calibri"/>
              </a:rPr>
              <a:t>The type decides the summary and the test. When a patient has two analyzed eyes, the P value of a per-eye row comes from a patient-clustered GEE of that type.</a:t>
            </a:r>
          </a:p>
          <a:p>
            <a:pPr algn="l">
              <a:lnSpc>
                <a:spcPct val="115000"/>
              </a:lnSpc>
              <a:spcAft>
                <a:spcPts val="200"/>
              </a:spcAft>
            </a:pPr>
            <a:r>
              <a:rPr sz="1250" b="0">
                <a:solidFill>
                  <a:srgbClr val="0D2D2A"/>
                </a:solidFill>
                <a:latin typeface="Calibri"/>
              </a:rPr>
              <a:t/>
            </a:r>
          </a:p>
          <a:p>
            <a:pPr algn="l">
              <a:lnSpc>
                <a:spcPct val="115000"/>
              </a:lnSpc>
              <a:spcAft>
                <a:spcPts val="200"/>
              </a:spcAft>
            </a:pPr>
            <a:r>
              <a:rPr sz="1250" b="0">
                <a:solidFill>
                  <a:srgbClr val="0D2D2A"/>
                </a:solidFill>
                <a:latin typeface="Calibri"/>
              </a:rPr>
              <a:t>Say how your file writes visual acuity: decimal, logMAR, Snellen or ETDRS letters. CF, HM, LP and NLP become missing.</a:t>
            </a:r>
          </a:p>
          <a:p>
            <a:pPr algn="l">
              <a:lnSpc>
                <a:spcPct val="115000"/>
              </a:lnSpc>
              <a:spcAft>
                <a:spcPts val="200"/>
              </a:spcAft>
            </a:pPr>
            <a:r>
              <a:rPr sz="1250" b="0">
                <a:solidFill>
                  <a:srgbClr val="0D2D2A"/>
                </a:solidFill>
                <a:latin typeface="Calibri"/>
              </a:rPr>
              <a:t/>
            </a:r>
          </a:p>
          <a:p>
            <a:pPr algn="l">
              <a:lnSpc>
                <a:spcPct val="115000"/>
              </a:lnSpc>
              <a:spcAft>
                <a:spcPts val="200"/>
              </a:spcAft>
            </a:pPr>
            <a:r>
              <a:rPr sz="1250" b="0">
                <a:solidFill>
                  <a:srgbClr val="0D2D2A"/>
                </a:solidFill>
                <a:latin typeface="Calibri"/>
              </a:rPr>
              <a:t>Acuity is analyzed in logMAR by default and shown as “20/20 (0.00 ± 0.05 logMAR)”: the Snellen geometric mean with the logMAR mean ± SD.</a:t>
            </a:r>
          </a:p>
        </p:txBody>
      </p:sp>
      <p:sp>
        <p:nvSpPr>
          <p:cNvPr id="11" name="TextBox 10"/>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12" name="TextBox 11"/>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Steps 3–4 · Filters and matching</a:t>
            </a:r>
          </a:p>
        </p:txBody>
      </p:sp>
      <p:sp>
        <p:nvSpPr>
          <p:cNvPr id="3" name="Rounded Rectangle 2"/>
          <p:cNvSpPr/>
          <p:nvPr/>
        </p:nvSpPr>
        <p:spPr>
          <a:xfrm>
            <a:off x="685800" y="1874519"/>
            <a:ext cx="5257800" cy="4315968"/>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05840" y="2148840"/>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3</a:t>
            </a:r>
          </a:p>
        </p:txBody>
      </p:sp>
      <p:sp>
        <p:nvSpPr>
          <p:cNvPr id="5" name="TextBox 4"/>
          <p:cNvSpPr txBox="1"/>
          <p:nvPr/>
        </p:nvSpPr>
        <p:spPr>
          <a:xfrm>
            <a:off x="1664208" y="2240280"/>
            <a:ext cx="4023360" cy="320040"/>
          </a:xfrm>
          <a:prstGeom prst="rect">
            <a:avLst/>
          </a:prstGeom>
          <a:noFill/>
        </p:spPr>
        <p:txBody>
          <a:bodyPr wrap="square" lIns="0" rIns="0" tIns="0" bIns="0" anchor="t">
            <a:spAutoFit/>
          </a:bodyPr>
          <a:lstStyle/>
          <a:p>
            <a:pPr algn="l">
              <a:lnSpc>
                <a:spcPct val="115000"/>
              </a:lnSpc>
              <a:spcAft>
                <a:spcPts val="600"/>
              </a:spcAft>
            </a:pPr>
            <a:r>
              <a:rPr sz="1900" b="1">
                <a:solidFill>
                  <a:srgbClr val="0D2D2A"/>
                </a:solidFill>
                <a:latin typeface="Cambria"/>
              </a:rPr>
              <a:t>Filters &amp; Subsets</a:t>
            </a:r>
          </a:p>
        </p:txBody>
      </p:sp>
      <p:sp>
        <p:nvSpPr>
          <p:cNvPr id="6" name="TextBox 5"/>
          <p:cNvSpPr txBox="1"/>
          <p:nvPr/>
        </p:nvSpPr>
        <p:spPr>
          <a:xfrm>
            <a:off x="1005840" y="2880360"/>
            <a:ext cx="4617720" cy="2743200"/>
          </a:xfrm>
          <a:prstGeom prst="rect">
            <a:avLst/>
          </a:prstGeom>
          <a:noFill/>
        </p:spPr>
        <p:txBody>
          <a:bodyPr wrap="square" lIns="0" rIns="0" tIns="0" bIns="0" anchor="t">
            <a:spAutoFit/>
          </a:bodyPr>
          <a:lstStyle/>
          <a:p>
            <a:pPr algn="l">
              <a:lnSpc>
                <a:spcPct val="115000"/>
              </a:lnSpc>
              <a:spcAft>
                <a:spcPts val="200"/>
              </a:spcAft>
            </a:pPr>
            <a:r>
              <a:rPr sz="1250" b="0">
                <a:solidFill>
                  <a:srgbClr val="0D2D2A"/>
                </a:solidFill>
                <a:latin typeface="Calibri"/>
              </a:rPr>
              <a:t>Add inclusion rules — age, follow-up, first treatment, cylinder limits, and so on. A blank cell passes a rule (add a notna rule to drop blanks), and rules use the values as recorded in your file.</a:t>
            </a:r>
          </a:p>
          <a:p>
            <a:pPr algn="l">
              <a:lnSpc>
                <a:spcPct val="115000"/>
              </a:lnSpc>
              <a:spcAft>
                <a:spcPts val="200"/>
              </a:spcAft>
            </a:pPr>
            <a:r>
              <a:rPr sz="1250" b="0">
                <a:solidFill>
                  <a:srgbClr val="0D2D2A"/>
                </a:solidFill>
                <a:latin typeface="Calibri"/>
              </a:rPr>
              <a:t/>
            </a:r>
          </a:p>
          <a:p>
            <a:pPr algn="l">
              <a:lnSpc>
                <a:spcPct val="115000"/>
              </a:lnSpc>
              <a:spcAft>
                <a:spcPts val="200"/>
              </a:spcAft>
            </a:pPr>
            <a:r>
              <a:rPr sz="1250" b="0">
                <a:solidFill>
                  <a:srgbClr val="0D2D2A"/>
                </a:solidFill>
                <a:latin typeface="Calibri"/>
              </a:rPr>
              <a:t>Row counts update live, per group, so you can see exactly how many eyes each rule removes before running anything.</a:t>
            </a:r>
          </a:p>
          <a:p>
            <a:pPr algn="l">
              <a:lnSpc>
                <a:spcPct val="115000"/>
              </a:lnSpc>
              <a:spcAft>
                <a:spcPts val="200"/>
              </a:spcAft>
            </a:pPr>
            <a:r>
              <a:rPr sz="1250" b="0">
                <a:solidFill>
                  <a:srgbClr val="0D2D2A"/>
                </a:solidFill>
                <a:latin typeface="Calibri"/>
              </a:rPr>
              <a:t/>
            </a:r>
          </a:p>
          <a:p>
            <a:pPr algn="l">
              <a:lnSpc>
                <a:spcPct val="115000"/>
              </a:lnSpc>
              <a:spcAft>
                <a:spcPts val="200"/>
              </a:spcAft>
            </a:pPr>
            <a:r>
              <a:rPr sz="1250" b="0">
                <a:solidFill>
                  <a:srgbClr val="0D2D2A"/>
                </a:solidFill>
                <a:latin typeface="Calibri"/>
              </a:rPr>
              <a:t>Each enabled subset (e.g. PRK and LASIK) gets its own full analysis. Rows outside every subset are left out. The Workbooks setting can add, or give only, one pooled workbook.</a:t>
            </a:r>
          </a:p>
        </p:txBody>
      </p:sp>
      <p:sp>
        <p:nvSpPr>
          <p:cNvPr id="7" name="Rounded Rectangle 6"/>
          <p:cNvSpPr/>
          <p:nvPr/>
        </p:nvSpPr>
        <p:spPr>
          <a:xfrm>
            <a:off x="6217920" y="1874519"/>
            <a:ext cx="5257800" cy="4315968"/>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6537960" y="2148840"/>
            <a:ext cx="457200" cy="4572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FFFFFF"/>
                </a:solidFill>
                <a:latin typeface="Calibri"/>
              </a:rPr>
              <a:t>4</a:t>
            </a:r>
          </a:p>
        </p:txBody>
      </p:sp>
      <p:sp>
        <p:nvSpPr>
          <p:cNvPr id="9" name="TextBox 8"/>
          <p:cNvSpPr txBox="1"/>
          <p:nvPr/>
        </p:nvSpPr>
        <p:spPr>
          <a:xfrm>
            <a:off x="7196328" y="2240280"/>
            <a:ext cx="4023360" cy="320040"/>
          </a:xfrm>
          <a:prstGeom prst="rect">
            <a:avLst/>
          </a:prstGeom>
          <a:noFill/>
        </p:spPr>
        <p:txBody>
          <a:bodyPr wrap="square" lIns="0" rIns="0" tIns="0" bIns="0" anchor="t">
            <a:spAutoFit/>
          </a:bodyPr>
          <a:lstStyle/>
          <a:p>
            <a:pPr algn="l">
              <a:lnSpc>
                <a:spcPct val="115000"/>
              </a:lnSpc>
              <a:spcAft>
                <a:spcPts val="600"/>
              </a:spcAft>
            </a:pPr>
            <a:r>
              <a:rPr sz="1900" b="1">
                <a:solidFill>
                  <a:srgbClr val="0D2D2A"/>
                </a:solidFill>
                <a:latin typeface="Cambria"/>
              </a:rPr>
              <a:t>Matching</a:t>
            </a:r>
          </a:p>
        </p:txBody>
      </p:sp>
      <p:sp>
        <p:nvSpPr>
          <p:cNvPr id="10" name="TextBox 9"/>
          <p:cNvSpPr txBox="1"/>
          <p:nvPr/>
        </p:nvSpPr>
        <p:spPr>
          <a:xfrm>
            <a:off x="6537960" y="2880360"/>
            <a:ext cx="4617720" cy="2743200"/>
          </a:xfrm>
          <a:prstGeom prst="rect">
            <a:avLst/>
          </a:prstGeom>
          <a:noFill/>
        </p:spPr>
        <p:txBody>
          <a:bodyPr wrap="square" lIns="0" rIns="0" tIns="0" bIns="0" anchor="t">
            <a:spAutoFit/>
          </a:bodyPr>
          <a:lstStyle/>
          <a:p>
            <a:pPr algn="l">
              <a:lnSpc>
                <a:spcPct val="115000"/>
              </a:lnSpc>
              <a:spcAft>
                <a:spcPts val="200"/>
              </a:spcAft>
            </a:pPr>
            <a:r>
              <a:rPr sz="1250" b="0">
                <a:solidFill>
                  <a:srgbClr val="0D2D2A"/>
                </a:solidFill>
                <a:latin typeface="Calibri"/>
              </a:rPr>
              <a:t>Matching against the reference group: nearest neighbor, exact, coarsened exact or subclassification.</a:t>
            </a:r>
          </a:p>
          <a:p>
            <a:pPr algn="l">
              <a:lnSpc>
                <a:spcPct val="115000"/>
              </a:lnSpc>
              <a:spcAft>
                <a:spcPts val="200"/>
              </a:spcAft>
            </a:pPr>
            <a:r>
              <a:rPr sz="1250" b="0">
                <a:solidFill>
                  <a:srgbClr val="0D2D2A"/>
                </a:solidFill>
                <a:latin typeface="Calibri"/>
              </a:rPr>
              <a:t/>
            </a:r>
          </a:p>
          <a:p>
            <a:pPr algn="l">
              <a:lnSpc>
                <a:spcPct val="115000"/>
              </a:lnSpc>
              <a:spcAft>
                <a:spcPts val="200"/>
              </a:spcAft>
            </a:pPr>
            <a:r>
              <a:rPr sz="1250" b="0">
                <a:solidFill>
                  <a:srgbClr val="0D2D2A"/>
                </a:solidFill>
                <a:latin typeface="Calibri"/>
              </a:rPr>
              <a:t>Choose the covariates and, for nearest neighbor, the ratio and the caliper. Default: 1:1, caliper 0.2 SD of the logit of the propensity score (Austin 2011); the probability scale of 1.0.0 stays selectable under Distance.</a:t>
            </a:r>
          </a:p>
          <a:p>
            <a:pPr algn="l">
              <a:lnSpc>
                <a:spcPct val="115000"/>
              </a:lnSpc>
              <a:spcAft>
                <a:spcPts val="200"/>
              </a:spcAft>
            </a:pPr>
            <a:r>
              <a:rPr sz="1250" b="0">
                <a:solidFill>
                  <a:srgbClr val="0D2D2A"/>
                </a:solidFill>
                <a:latin typeface="Calibri"/>
              </a:rPr>
              <a:t/>
            </a:r>
          </a:p>
          <a:p>
            <a:pPr algn="l">
              <a:lnSpc>
                <a:spcPct val="115000"/>
              </a:lnSpc>
              <a:spcAft>
                <a:spcPts val="200"/>
              </a:spcAft>
            </a:pPr>
            <a:r>
              <a:rPr sz="1250" b="0">
                <a:solidFill>
                  <a:srgbClr val="0D2D2A"/>
                </a:solidFill>
                <a:latin typeface="Calibri"/>
              </a:rPr>
              <a:t>For nearest neighbor a live preview shows how many eyes match before you run.</a:t>
            </a:r>
          </a:p>
          <a:p>
            <a:pPr algn="l">
              <a:lnSpc>
                <a:spcPct val="115000"/>
              </a:lnSpc>
              <a:spcAft>
                <a:spcPts val="200"/>
              </a:spcAft>
            </a:pPr>
            <a:r>
              <a:rPr sz="1250" b="0">
                <a:solidFill>
                  <a:srgbClr val="0D2D2A"/>
                </a:solidFill>
                <a:latin typeface="Calibri"/>
              </a:rPr>
              <a:t/>
            </a:r>
          </a:p>
          <a:p>
            <a:pPr algn="l">
              <a:lnSpc>
                <a:spcPct val="115000"/>
              </a:lnSpc>
              <a:spcAft>
                <a:spcPts val="200"/>
              </a:spcAft>
            </a:pPr>
            <a:r>
              <a:rPr sz="1250" b="0">
                <a:solidFill>
                  <a:srgbClr val="0D2D2A"/>
                </a:solidFill>
                <a:latin typeface="Calibri"/>
              </a:rPr>
              <a:t>Balance is reported on each pairing's PSM sheet and in its love plot, which name the scale used.</a:t>
            </a:r>
          </a:p>
        </p:txBody>
      </p:sp>
      <p:sp>
        <p:nvSpPr>
          <p:cNvPr id="11" name="TextBox 10"/>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12" name="TextBox 11"/>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Steps 5–6 · Regression and GEE</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How to handle groups that still differ at baseline</a:t>
            </a:r>
          </a:p>
        </p:txBody>
      </p:sp>
      <p:sp>
        <p:nvSpPr>
          <p:cNvPr id="4" name="Rounded Rectangle 3"/>
          <p:cNvSpPr/>
          <p:nvPr/>
        </p:nvSpPr>
        <p:spPr>
          <a:xfrm>
            <a:off x="685800" y="2011680"/>
            <a:ext cx="10789920" cy="960120"/>
          </a:xfrm>
          <a:prstGeom prst="roundRect">
            <a:avLst/>
          </a:prstGeom>
          <a:solidFill>
            <a:srgbClr val="E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2240280"/>
            <a:ext cx="10058400" cy="731520"/>
          </a:xfrm>
          <a:prstGeom prst="rect">
            <a:avLst/>
          </a:prstGeom>
          <a:noFill/>
        </p:spPr>
        <p:txBody>
          <a:bodyPr wrap="square" lIns="0" rIns="0" tIns="0" bIns="0" anchor="t">
            <a:spAutoFit/>
          </a:bodyPr>
          <a:lstStyle/>
          <a:p>
            <a:pPr algn="l">
              <a:lnSpc>
                <a:spcPct val="115000"/>
              </a:lnSpc>
              <a:spcAft>
                <a:spcPts val="600"/>
              </a:spcAft>
            </a:pPr>
            <a:r>
              <a:rPr sz="1400" b="1">
                <a:solidFill>
                  <a:srgbClr val="0D2D2A"/>
                </a:solidFill>
                <a:latin typeface="Calibri"/>
              </a:rPr>
              <a:t>GEE is how the regression is fitted, not an alternative to it. </a:t>
            </a:r>
            <a:r>
              <a:rPr sz="1400" b="0">
                <a:solidFill>
                  <a:srgbClr val="0D2D2A"/>
                </a:solidFill>
                <a:latin typeface="Calibri"/>
              </a:rPr>
              <a:t>The model is outcome ~ group + covariates; GEE additionally accounts for both eyes coming from the same patient. Every GEE test and interval uses the Mancl-DeRouen small-sample correction with a t reference.</a:t>
            </a:r>
          </a:p>
        </p:txBody>
      </p:sp>
      <p:sp>
        <p:nvSpPr>
          <p:cNvPr id="6" name="Oval 5"/>
          <p:cNvSpPr/>
          <p:nvPr/>
        </p:nvSpPr>
        <p:spPr>
          <a:xfrm>
            <a:off x="868680" y="3236976"/>
            <a:ext cx="347472" cy="34747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Calibri"/>
              </a:rPr>
              <a:t>•</a:t>
            </a:r>
          </a:p>
        </p:txBody>
      </p:sp>
      <p:sp>
        <p:nvSpPr>
          <p:cNvPr id="7" name="TextBox 6"/>
          <p:cNvSpPr txBox="1"/>
          <p:nvPr/>
        </p:nvSpPr>
        <p:spPr>
          <a:xfrm>
            <a:off x="1371600" y="3200400"/>
            <a:ext cx="3520440" cy="54864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Adjust for what is unbalanced</a:t>
            </a:r>
          </a:p>
        </p:txBody>
      </p:sp>
      <p:sp>
        <p:nvSpPr>
          <p:cNvPr id="8" name="TextBox 7"/>
          <p:cNvSpPr txBox="1"/>
          <p:nvPr/>
        </p:nvSpPr>
        <p:spPr>
          <a:xfrm>
            <a:off x="5029200" y="3200400"/>
            <a:ext cx="6400800" cy="548640"/>
          </a:xfrm>
          <a:prstGeom prst="rect">
            <a:avLst/>
          </a:prstGeom>
          <a:noFill/>
        </p:spPr>
        <p:txBody>
          <a:bodyPr wrap="square" lIns="0" rIns="0" tIns="0" bIns="0" anchor="t">
            <a:spAutoFit/>
          </a:bodyPr>
          <a:lstStyle/>
          <a:p>
            <a:pPr algn="l">
              <a:lnSpc>
                <a:spcPct val="115000"/>
              </a:lnSpc>
              <a:spcAft>
                <a:spcPts val="600"/>
              </a:spcAft>
            </a:pPr>
            <a:r>
              <a:rPr sz="1250" b="0">
                <a:solidFill>
                  <a:srgbClr val="4F6763"/>
                </a:solidFill>
                <a:latin typeface="Calibri"/>
              </a:rPr>
              <a:t>Put the baseline variables that still differ into the regression covariates. The Regression sheet also gives the crude estimate fitted on the same eyes.</a:t>
            </a:r>
          </a:p>
        </p:txBody>
      </p:sp>
      <p:sp>
        <p:nvSpPr>
          <p:cNvPr id="9" name="Oval 8"/>
          <p:cNvSpPr/>
          <p:nvPr/>
        </p:nvSpPr>
        <p:spPr>
          <a:xfrm>
            <a:off x="868680" y="3858768"/>
            <a:ext cx="347472" cy="34747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Calibri"/>
              </a:rPr>
              <a:t>•</a:t>
            </a:r>
          </a:p>
        </p:txBody>
      </p:sp>
      <p:sp>
        <p:nvSpPr>
          <p:cNvPr id="10" name="TextBox 9"/>
          <p:cNvSpPr txBox="1"/>
          <p:nvPr/>
        </p:nvSpPr>
        <p:spPr>
          <a:xfrm>
            <a:off x="1371600" y="3822191"/>
            <a:ext cx="3520440" cy="54864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Match first, then adjust</a:t>
            </a:r>
          </a:p>
        </p:txBody>
      </p:sp>
      <p:sp>
        <p:nvSpPr>
          <p:cNvPr id="11" name="TextBox 10"/>
          <p:cNvSpPr txBox="1"/>
          <p:nvPr/>
        </p:nvSpPr>
        <p:spPr>
          <a:xfrm>
            <a:off x="5029200" y="3822191"/>
            <a:ext cx="6400800" cy="548640"/>
          </a:xfrm>
          <a:prstGeom prst="rect">
            <a:avLst/>
          </a:prstGeom>
          <a:noFill/>
        </p:spPr>
        <p:txBody>
          <a:bodyPr wrap="square" lIns="0" rIns="0" tIns="0" bIns="0" anchor="t">
            <a:spAutoFit/>
          </a:bodyPr>
          <a:lstStyle/>
          <a:p>
            <a:pPr algn="l">
              <a:lnSpc>
                <a:spcPct val="115000"/>
              </a:lnSpc>
              <a:spcAft>
                <a:spcPts val="600"/>
              </a:spcAft>
            </a:pPr>
            <a:r>
              <a:rPr sz="1250" b="0">
                <a:solidFill>
                  <a:srgbClr val="4F6763"/>
                </a:solidFill>
                <a:latin typeface="Calibri"/>
              </a:rPr>
              <a:t>Set Run on to Matched cohort (or Both) on the Regression tab. Matched models use an independence working correlation, clustered by patient.</a:t>
            </a:r>
          </a:p>
        </p:txBody>
      </p:sp>
      <p:sp>
        <p:nvSpPr>
          <p:cNvPr id="12" name="Oval 11"/>
          <p:cNvSpPr/>
          <p:nvPr/>
        </p:nvSpPr>
        <p:spPr>
          <a:xfrm>
            <a:off x="868680" y="4480559"/>
            <a:ext cx="347472" cy="34747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Calibri"/>
              </a:rPr>
              <a:t>•</a:t>
            </a:r>
          </a:p>
        </p:txBody>
      </p:sp>
      <p:sp>
        <p:nvSpPr>
          <p:cNvPr id="13" name="TextBox 12"/>
          <p:cNvSpPr txBox="1"/>
          <p:nvPr/>
        </p:nvSpPr>
        <p:spPr>
          <a:xfrm>
            <a:off x="1371600" y="4443983"/>
            <a:ext cx="3520440" cy="54864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Choose covariates by balance, not by P</a:t>
            </a:r>
          </a:p>
        </p:txBody>
      </p:sp>
      <p:sp>
        <p:nvSpPr>
          <p:cNvPr id="14" name="TextBox 13"/>
          <p:cNvSpPr txBox="1"/>
          <p:nvPr/>
        </p:nvSpPr>
        <p:spPr>
          <a:xfrm>
            <a:off x="5029200" y="4443983"/>
            <a:ext cx="6400800" cy="548640"/>
          </a:xfrm>
          <a:prstGeom prst="rect">
            <a:avLst/>
          </a:prstGeom>
          <a:noFill/>
        </p:spPr>
        <p:txBody>
          <a:bodyPr wrap="square" lIns="0" rIns="0" tIns="0" bIns="0" anchor="t">
            <a:spAutoFit/>
          </a:bodyPr>
          <a:lstStyle/>
          <a:p>
            <a:pPr algn="l">
              <a:lnSpc>
                <a:spcPct val="115000"/>
              </a:lnSpc>
              <a:spcAft>
                <a:spcPts val="600"/>
              </a:spcAft>
            </a:pPr>
            <a:r>
              <a:rPr sz="1250" b="0">
                <a:solidFill>
                  <a:srgbClr val="4F6763"/>
                </a:solidFill>
                <a:latin typeface="Calibri"/>
              </a:rPr>
              <a:t>Add a covariate because it is still imbalanced (SMD above ~0.1), never because it changes the result.</a:t>
            </a:r>
          </a:p>
        </p:txBody>
      </p:sp>
      <p:sp>
        <p:nvSpPr>
          <p:cNvPr id="15" name="Oval 14"/>
          <p:cNvSpPr/>
          <p:nvPr/>
        </p:nvSpPr>
        <p:spPr>
          <a:xfrm>
            <a:off x="868680" y="5102351"/>
            <a:ext cx="347472" cy="34747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Calibri"/>
              </a:rPr>
              <a:t>•</a:t>
            </a:r>
          </a:p>
        </p:txBody>
      </p:sp>
      <p:sp>
        <p:nvSpPr>
          <p:cNvPr id="16" name="TextBox 15"/>
          <p:cNvSpPr txBox="1"/>
          <p:nvPr/>
        </p:nvSpPr>
        <p:spPr>
          <a:xfrm>
            <a:off x="1371600" y="5065775"/>
            <a:ext cx="3520440" cy="54864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Small groups carry a caution</a:t>
            </a:r>
          </a:p>
        </p:txBody>
      </p:sp>
      <p:sp>
        <p:nvSpPr>
          <p:cNvPr id="17" name="TextBox 16"/>
          <p:cNvSpPr txBox="1"/>
          <p:nvPr/>
        </p:nvSpPr>
        <p:spPr>
          <a:xfrm>
            <a:off x="5029200" y="5065775"/>
            <a:ext cx="6400800" cy="548640"/>
          </a:xfrm>
          <a:prstGeom prst="rect">
            <a:avLst/>
          </a:prstGeom>
          <a:noFill/>
        </p:spPr>
        <p:txBody>
          <a:bodyPr wrap="square" lIns="0" rIns="0" tIns="0" bIns="0" anchor="t">
            <a:spAutoFit/>
          </a:bodyPr>
          <a:lstStyle/>
          <a:p>
            <a:pPr algn="l">
              <a:lnSpc>
                <a:spcPct val="115000"/>
              </a:lnSpc>
              <a:spcAft>
                <a:spcPts val="600"/>
              </a:spcAft>
            </a:pPr>
            <a:r>
              <a:rPr sz="1250" b="0">
                <a:solidFill>
                  <a:srgbClr val="4F6763"/>
                </a:solidFill>
                <a:latin typeface="Calibri"/>
              </a:rPr>
              <a:t>A clustered model needs at least 6 eyes and 3 patients, otherwise it reports Not estimable. A group with 2-9 patients gets a caution under Check before using the results.</a:t>
            </a:r>
          </a:p>
        </p:txBody>
      </p:sp>
      <p:sp>
        <p:nvSpPr>
          <p:cNvPr id="18" name="Oval 17"/>
          <p:cNvSpPr/>
          <p:nvPr/>
        </p:nvSpPr>
        <p:spPr>
          <a:xfrm>
            <a:off x="868680" y="5724143"/>
            <a:ext cx="347472" cy="347472"/>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Calibri"/>
              </a:rPr>
              <a:t>•</a:t>
            </a:r>
          </a:p>
        </p:txBody>
      </p:sp>
      <p:sp>
        <p:nvSpPr>
          <p:cNvPr id="19" name="TextBox 18"/>
          <p:cNvSpPr txBox="1"/>
          <p:nvPr/>
        </p:nvSpPr>
        <p:spPr>
          <a:xfrm>
            <a:off x="1371600" y="5687567"/>
            <a:ext cx="3520440" cy="548640"/>
          </a:xfrm>
          <a:prstGeom prst="rect">
            <a:avLst/>
          </a:prstGeom>
          <a:noFill/>
        </p:spPr>
        <p:txBody>
          <a:bodyPr wrap="square" lIns="0" rIns="0" tIns="0" bIns="0" anchor="t">
            <a:spAutoFit/>
          </a:bodyPr>
          <a:lstStyle/>
          <a:p>
            <a:pPr algn="l">
              <a:lnSpc>
                <a:spcPct val="115000"/>
              </a:lnSpc>
              <a:spcAft>
                <a:spcPts val="600"/>
              </a:spcAft>
            </a:pPr>
            <a:r>
              <a:rPr sz="1350" b="1">
                <a:solidFill>
                  <a:srgbClr val="0D2D2A"/>
                </a:solidFill>
                <a:latin typeface="Calibri"/>
              </a:rPr>
              <a:t>Settings on the GEE tab</a:t>
            </a:r>
          </a:p>
        </p:txBody>
      </p:sp>
      <p:sp>
        <p:nvSpPr>
          <p:cNvPr id="20" name="TextBox 19"/>
          <p:cNvSpPr txBox="1"/>
          <p:nvPr/>
        </p:nvSpPr>
        <p:spPr>
          <a:xfrm>
            <a:off x="5029200" y="5687567"/>
            <a:ext cx="6400800" cy="548640"/>
          </a:xfrm>
          <a:prstGeom prst="rect">
            <a:avLst/>
          </a:prstGeom>
          <a:noFill/>
        </p:spPr>
        <p:txBody>
          <a:bodyPr wrap="square" lIns="0" rIns="0" tIns="0" bIns="0" anchor="t">
            <a:spAutoFit/>
          </a:bodyPr>
          <a:lstStyle/>
          <a:p>
            <a:pPr algn="l">
              <a:lnSpc>
                <a:spcPct val="115000"/>
              </a:lnSpc>
              <a:spcAft>
                <a:spcPts val="600"/>
              </a:spcAft>
            </a:pPr>
            <a:r>
              <a:rPr sz="1250" b="0">
                <a:solidFill>
                  <a:srgbClr val="4F6763"/>
                </a:solidFill>
                <a:latin typeface="Calibri"/>
              </a:rPr>
              <a:t>Run GEE on the matched cohort (default), the unmatched one or both. Summary-table tests: auto (clustered) or classical. P value style: journal (.27) or classic (0.266).</a:t>
            </a:r>
          </a:p>
        </p:txBody>
      </p:sp>
      <p:sp>
        <p:nvSpPr>
          <p:cNvPr id="21" name="TextBox 20"/>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22" name="TextBox 21"/>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Step 7 · Special outputs and figures</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Map the Column roles at the bottom of the tab first. Nothing is guessed from column names.</a:t>
            </a:r>
          </a:p>
        </p:txBody>
      </p:sp>
      <p:sp>
        <p:nvSpPr>
          <p:cNvPr id="4" name="Rounded Rectangle 3"/>
          <p:cNvSpPr/>
          <p:nvPr/>
        </p:nvSpPr>
        <p:spPr>
          <a:xfrm>
            <a:off x="685800" y="1874519"/>
            <a:ext cx="10789920" cy="86868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2002536"/>
            <a:ext cx="3017520" cy="320040"/>
          </a:xfrm>
          <a:prstGeom prst="rect">
            <a:avLst/>
          </a:prstGeom>
          <a:noFill/>
        </p:spPr>
        <p:txBody>
          <a:bodyPr wrap="square" lIns="0" rIns="0" tIns="0" bIns="0" anchor="t">
            <a:spAutoFit/>
          </a:bodyPr>
          <a:lstStyle/>
          <a:p>
            <a:pPr algn="l">
              <a:lnSpc>
                <a:spcPct val="115000"/>
              </a:lnSpc>
              <a:spcAft>
                <a:spcPts val="600"/>
              </a:spcAft>
            </a:pPr>
            <a:r>
              <a:rPr sz="1600" b="1">
                <a:solidFill>
                  <a:srgbClr val="0F766E"/>
                </a:solidFill>
                <a:latin typeface="Cambria"/>
              </a:rPr>
              <a:t>The composite</a:t>
            </a:r>
          </a:p>
        </p:txBody>
      </p:sp>
      <p:sp>
        <p:nvSpPr>
          <p:cNvPr id="6" name="TextBox 5"/>
          <p:cNvSpPr txBox="1"/>
          <p:nvPr/>
        </p:nvSpPr>
        <p:spPr>
          <a:xfrm>
            <a:off x="4206240" y="1984248"/>
            <a:ext cx="7040880" cy="731520"/>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EVERY group on one chart, readable up to about five. One overall test plus, with three or more groups, each group against the reference (Holm-adjusted), clustered by patient when a patient ID is set. Panel sets: Full (ten panels), Refractive (six), Cataract (four). Stability joins the Full set as an eleventh panel.</a:t>
            </a:r>
          </a:p>
        </p:txBody>
      </p:sp>
      <p:sp>
        <p:nvSpPr>
          <p:cNvPr id="7" name="Rounded Rectangle 6"/>
          <p:cNvSpPr/>
          <p:nvPr/>
        </p:nvSpPr>
        <p:spPr>
          <a:xfrm>
            <a:off x="685800" y="2834639"/>
            <a:ext cx="10789920" cy="86868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2962656"/>
            <a:ext cx="3017520" cy="320040"/>
          </a:xfrm>
          <a:prstGeom prst="rect">
            <a:avLst/>
          </a:prstGeom>
          <a:noFill/>
        </p:spPr>
        <p:txBody>
          <a:bodyPr wrap="square" lIns="0" rIns="0" tIns="0" bIns="0" anchor="t">
            <a:spAutoFit/>
          </a:bodyPr>
          <a:lstStyle/>
          <a:p>
            <a:pPr algn="l">
              <a:lnSpc>
                <a:spcPct val="115000"/>
              </a:lnSpc>
              <a:spcAft>
                <a:spcPts val="600"/>
              </a:spcAft>
            </a:pPr>
            <a:r>
              <a:rPr sz="1600" b="1">
                <a:solidFill>
                  <a:srgbClr val="0F766E"/>
                </a:solidFill>
                <a:latin typeface="Cambria"/>
              </a:rPr>
              <a:t>Journal style</a:t>
            </a:r>
          </a:p>
        </p:txBody>
      </p:sp>
      <p:sp>
        <p:nvSpPr>
          <p:cNvPr id="9" name="TextBox 8"/>
          <p:cNvSpPr txBox="1"/>
          <p:nvPr/>
        </p:nvSpPr>
        <p:spPr>
          <a:xfrm>
            <a:off x="4206240" y="2944368"/>
            <a:ext cx="7040880" cy="731520"/>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The default: white, no frames, section bands or shaded wedges. Each figure's title, method notes and abbreviations go to &lt;figure&gt;_legend.txt beside it. Figure style annotated keeps the 1.0.0 look, with that text inside the image.</a:t>
            </a:r>
          </a:p>
        </p:txBody>
      </p:sp>
      <p:sp>
        <p:nvSpPr>
          <p:cNvPr id="10" name="Rounded Rectangle 9"/>
          <p:cNvSpPr/>
          <p:nvPr/>
        </p:nvSpPr>
        <p:spPr>
          <a:xfrm>
            <a:off x="685800" y="3794759"/>
            <a:ext cx="10789920" cy="86868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51560" y="3922775"/>
            <a:ext cx="3017520" cy="320040"/>
          </a:xfrm>
          <a:prstGeom prst="rect">
            <a:avLst/>
          </a:prstGeom>
          <a:noFill/>
        </p:spPr>
        <p:txBody>
          <a:bodyPr wrap="square" lIns="0" rIns="0" tIns="0" bIns="0" anchor="t">
            <a:spAutoFit/>
          </a:bodyPr>
          <a:lstStyle/>
          <a:p>
            <a:pPr algn="l">
              <a:lnSpc>
                <a:spcPct val="115000"/>
              </a:lnSpc>
              <a:spcAft>
                <a:spcPts val="600"/>
              </a:spcAft>
            </a:pPr>
            <a:r>
              <a:rPr sz="1600" b="1">
                <a:solidFill>
                  <a:srgbClr val="0F766E"/>
                </a:solidFill>
                <a:latin typeface="Cambria"/>
              </a:rPr>
              <a:t>Width and files</a:t>
            </a:r>
          </a:p>
        </p:txBody>
      </p:sp>
      <p:sp>
        <p:nvSpPr>
          <p:cNvPr id="12" name="TextBox 11"/>
          <p:cNvSpPr txBox="1"/>
          <p:nvPr/>
        </p:nvSpPr>
        <p:spPr>
          <a:xfrm>
            <a:off x="4206240" y="3904487"/>
            <a:ext cx="7040880" cy="731520"/>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TIFF (300 dpi by default, up to 1200), PNG, JPEG, PDF or EPS. A figure width of 8.76, 12.69 or 17.77 cm (the journal columns) keeps text at 6 pt or more: two panels per row (one at 8.76 cm), and pages _p1, _p2 when taller than 23 cm.</a:t>
            </a:r>
          </a:p>
        </p:txBody>
      </p:sp>
      <p:sp>
        <p:nvSpPr>
          <p:cNvPr id="13" name="Rounded Rectangle 12"/>
          <p:cNvSpPr/>
          <p:nvPr/>
        </p:nvSpPr>
        <p:spPr>
          <a:xfrm>
            <a:off x="685800" y="4754879"/>
            <a:ext cx="10789920" cy="86868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4882895"/>
            <a:ext cx="3017520" cy="320040"/>
          </a:xfrm>
          <a:prstGeom prst="rect">
            <a:avLst/>
          </a:prstGeom>
          <a:noFill/>
        </p:spPr>
        <p:txBody>
          <a:bodyPr wrap="square" lIns="0" rIns="0" tIns="0" bIns="0" anchor="t">
            <a:spAutoFit/>
          </a:bodyPr>
          <a:lstStyle/>
          <a:p>
            <a:pPr algn="l">
              <a:lnSpc>
                <a:spcPct val="115000"/>
              </a:lnSpc>
              <a:spcAft>
                <a:spcPts val="600"/>
              </a:spcAft>
            </a:pPr>
            <a:r>
              <a:rPr sz="1600" b="1">
                <a:solidFill>
                  <a:srgbClr val="0F766E"/>
                </a:solidFill>
                <a:latin typeface="Cambria"/>
              </a:rPr>
              <a:t>Semicircles, export tabs</a:t>
            </a:r>
          </a:p>
        </p:txBody>
      </p:sp>
      <p:sp>
        <p:nvSpPr>
          <p:cNvPr id="15" name="TextBox 14"/>
          <p:cNvSpPr txBox="1"/>
          <p:nvPr/>
        </p:nvSpPr>
        <p:spPr>
          <a:xfrm>
            <a:off x="4206240" y="4864607"/>
            <a:ext cx="7040880" cy="731520"/>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Semicircle plots of TIA, SIA and DV at plus axes, kept for familiarity. Optional tabs mEYEstro_&lt;group&gt; and AstigMATIC_&lt;group&gt; (matched pairing k: mEYEstro_M&lt;k&gt;_&lt;group&gt;) for cross-checking those tools.</a:t>
            </a:r>
          </a:p>
        </p:txBody>
      </p:sp>
      <p:sp>
        <p:nvSpPr>
          <p:cNvPr id="16" name="Rounded Rectangle 15"/>
          <p:cNvSpPr/>
          <p:nvPr/>
        </p:nvSpPr>
        <p:spPr>
          <a:xfrm>
            <a:off x="685800" y="5715000"/>
            <a:ext cx="10789920" cy="502920"/>
          </a:xfrm>
          <a:prstGeom prst="roundRect">
            <a:avLst/>
          </a:prstGeom>
          <a:solidFill>
            <a:srgbClr val="E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51560" y="5815584"/>
            <a:ext cx="10241280" cy="320040"/>
          </a:xfrm>
          <a:prstGeom prst="rect">
            <a:avLst/>
          </a:prstGeom>
          <a:noFill/>
        </p:spPr>
        <p:txBody>
          <a:bodyPr wrap="square" lIns="0" rIns="0" tIns="0" bIns="0" anchor="t">
            <a:spAutoFit/>
          </a:bodyPr>
          <a:lstStyle/>
          <a:p>
            <a:pPr algn="l">
              <a:lnSpc>
                <a:spcPct val="115000"/>
              </a:lnSpc>
              <a:spcAft>
                <a:spcPts val="600"/>
              </a:spcAft>
            </a:pPr>
            <a:r>
              <a:rPr sz="1200" b="0">
                <a:solidFill>
                  <a:srgbClr val="0D2D2A"/>
                </a:solidFill>
                <a:latin typeface="Calibri"/>
              </a:rPr>
              <a:t>Every panel is also saved as its own file, and the composites are previewed on the Run &amp; Results tab.</a:t>
            </a:r>
          </a:p>
        </p:txBody>
      </p:sp>
      <p:sp>
        <p:nvSpPr>
          <p:cNvPr id="18" name="TextBox 17"/>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19" name="TextBox 18"/>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Step 7 · Astigmatism (JCRS 2025)</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Plus-cylinder vectors, whatever the cylinder form of each row: with-the-rule on the left, against-the-rule on the right</a:t>
            </a:r>
          </a:p>
        </p:txBody>
      </p:sp>
      <p:sp>
        <p:nvSpPr>
          <p:cNvPr id="4" name="Rounded Rectangle 3"/>
          <p:cNvSpPr/>
          <p:nvPr/>
        </p:nvSpPr>
        <p:spPr>
          <a:xfrm>
            <a:off x="685800" y="1874519"/>
            <a:ext cx="10789920" cy="86868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2002536"/>
            <a:ext cx="3017520" cy="320040"/>
          </a:xfrm>
          <a:prstGeom prst="rect">
            <a:avLst/>
          </a:prstGeom>
          <a:noFill/>
        </p:spPr>
        <p:txBody>
          <a:bodyPr wrap="square" lIns="0" rIns="0" tIns="0" bIns="0" anchor="t">
            <a:spAutoFit/>
          </a:bodyPr>
          <a:lstStyle/>
          <a:p>
            <a:pPr algn="l">
              <a:lnSpc>
                <a:spcPct val="115000"/>
              </a:lnSpc>
              <a:spcAft>
                <a:spcPts val="600"/>
              </a:spcAft>
            </a:pPr>
            <a:r>
              <a:rPr sz="1600" b="1">
                <a:solidFill>
                  <a:srgbClr val="0F766E"/>
                </a:solidFill>
                <a:latin typeface="Cambria"/>
              </a:rPr>
              <a:t>Double-angle plots</a:t>
            </a:r>
          </a:p>
        </p:txBody>
      </p:sp>
      <p:sp>
        <p:nvSpPr>
          <p:cNvPr id="6" name="TextBox 5"/>
          <p:cNvSpPr txBox="1"/>
          <p:nvPr/>
        </p:nvSpPr>
        <p:spPr>
          <a:xfrm>
            <a:off x="4206240" y="1984248"/>
            <a:ext cx="7040880" cy="731520"/>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PRE (preoperative astigmatism), SIA (postoperative − preoperative) and PE, the prediction error (postoperative − target); POST joins when a target is not plano. Per cohort: centroid, total SD, magnitude mean ± SD, median and range.</a:t>
            </a:r>
          </a:p>
        </p:txBody>
      </p:sp>
      <p:sp>
        <p:nvSpPr>
          <p:cNvPr id="7" name="Rounded Rectangle 6"/>
          <p:cNvSpPr/>
          <p:nvPr/>
        </p:nvSpPr>
        <p:spPr>
          <a:xfrm>
            <a:off x="685800" y="2834639"/>
            <a:ext cx="10789920" cy="86868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2962656"/>
            <a:ext cx="3017520" cy="320040"/>
          </a:xfrm>
          <a:prstGeom prst="rect">
            <a:avLst/>
          </a:prstGeom>
          <a:noFill/>
        </p:spPr>
        <p:txBody>
          <a:bodyPr wrap="square" lIns="0" rIns="0" tIns="0" bIns="0" anchor="t">
            <a:spAutoFit/>
          </a:bodyPr>
          <a:lstStyle/>
          <a:p>
            <a:pPr algn="l">
              <a:lnSpc>
                <a:spcPct val="115000"/>
              </a:lnSpc>
              <a:spcAft>
                <a:spcPts val="600"/>
              </a:spcAft>
            </a:pPr>
            <a:r>
              <a:rPr sz="1600" b="1">
                <a:solidFill>
                  <a:srgbClr val="0F766E"/>
                </a:solidFill>
                <a:latin typeface="Cambria"/>
              </a:rPr>
              <a:t>Two 95% regions</a:t>
            </a:r>
          </a:p>
        </p:txBody>
      </p:sp>
      <p:sp>
        <p:nvSpPr>
          <p:cNvPr id="9" name="TextBox 8"/>
          <p:cNvSpPr txBox="1"/>
          <p:nvPr/>
        </p:nvSpPr>
        <p:spPr>
          <a:xfrm>
            <a:off x="4206240" y="2944368"/>
            <a:ext cx="7040880" cy="731520"/>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Of the eyes: the depth-based convex polygon. Of the centroid: the bootstrap convex polygon of 999 bootstrap centroids. Both are built as in the WHWK functions, the journal's reference tool; the normal and Hotelling ellipses stay as options.</a:t>
            </a:r>
          </a:p>
        </p:txBody>
      </p:sp>
      <p:sp>
        <p:nvSpPr>
          <p:cNvPr id="10" name="Rounded Rectangle 9"/>
          <p:cNvSpPr/>
          <p:nvPr/>
        </p:nvSpPr>
        <p:spPr>
          <a:xfrm>
            <a:off x="685800" y="3794759"/>
            <a:ext cx="10789920" cy="86868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51560" y="3922775"/>
            <a:ext cx="3017520" cy="320040"/>
          </a:xfrm>
          <a:prstGeom prst="rect">
            <a:avLst/>
          </a:prstGeom>
          <a:noFill/>
        </p:spPr>
        <p:txBody>
          <a:bodyPr wrap="square" lIns="0" rIns="0" tIns="0" bIns="0" anchor="t">
            <a:spAutoFit/>
          </a:bodyPr>
          <a:lstStyle/>
          <a:p>
            <a:pPr algn="l">
              <a:lnSpc>
                <a:spcPct val="115000"/>
              </a:lnSpc>
              <a:spcAft>
                <a:spcPts val="600"/>
              </a:spcAft>
            </a:pPr>
            <a:r>
              <a:rPr sz="1600" b="1">
                <a:solidFill>
                  <a:srgbClr val="0F766E"/>
                </a:solidFill>
                <a:latin typeface="Cambria"/>
              </a:rPr>
              <a:t>The tests</a:t>
            </a:r>
          </a:p>
        </p:txBody>
      </p:sp>
      <p:sp>
        <p:nvSpPr>
          <p:cNvPr id="12" name="TextBox 11"/>
          <p:cNvSpPr txBox="1"/>
          <p:nvPr/>
        </p:nvSpPr>
        <p:spPr>
          <a:xfrm>
            <a:off x="4206240" y="3904487"/>
            <a:ext cx="7040880" cy="731520"/>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Each centroid against zero (bootstrap projection-distance test; P = .001 is its floor). Between cohorts: centroid, precision and mean magnitude by robust tests that resample patients, and the share of eyes ≤ 0.25 … ≤ 2.00 D. Holm-adjusted.</a:t>
            </a:r>
          </a:p>
        </p:txBody>
      </p:sp>
      <p:sp>
        <p:nvSpPr>
          <p:cNvPr id="13" name="Rounded Rectangle 12"/>
          <p:cNvSpPr/>
          <p:nvPr/>
        </p:nvSpPr>
        <p:spPr>
          <a:xfrm>
            <a:off x="685800" y="4754879"/>
            <a:ext cx="10789920" cy="86868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4882895"/>
            <a:ext cx="3017520" cy="320040"/>
          </a:xfrm>
          <a:prstGeom prst="rect">
            <a:avLst/>
          </a:prstGeom>
          <a:noFill/>
        </p:spPr>
        <p:txBody>
          <a:bodyPr wrap="square" lIns="0" rIns="0" tIns="0" bIns="0" anchor="t">
            <a:spAutoFit/>
          </a:bodyPr>
          <a:lstStyle/>
          <a:p>
            <a:pPr algn="l">
              <a:lnSpc>
                <a:spcPct val="115000"/>
              </a:lnSpc>
              <a:spcAft>
                <a:spcPts val="600"/>
              </a:spcAft>
            </a:pPr>
            <a:r>
              <a:rPr sz="1600" b="1">
                <a:solidFill>
                  <a:srgbClr val="0F766E"/>
                </a:solidFill>
                <a:latin typeface="Cambria"/>
              </a:rPr>
              <a:t>Sheets, WHWK input</a:t>
            </a:r>
          </a:p>
        </p:txBody>
      </p:sp>
      <p:sp>
        <p:nvSpPr>
          <p:cNvPr id="15" name="TextBox 14"/>
          <p:cNvSpPr txBox="1"/>
          <p:nvPr/>
        </p:nvSpPr>
        <p:spPr>
          <a:xfrm>
            <a:off x="4206240" y="4864607"/>
            <a:ext cx="7040880" cy="731520"/>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“Astigmatism (JCRS 2025)”, also written as a CSV, and “Astigmatism vectors” (one row per eye and vector). A WHWK input folder beside the figures holds &lt;vector&gt;_vector.txt and &lt;vector&gt;_magnitude.txt for the WHWK R functions (osf.io/xhe8u).</a:t>
            </a:r>
          </a:p>
        </p:txBody>
      </p:sp>
      <p:sp>
        <p:nvSpPr>
          <p:cNvPr id="16" name="Rounded Rectangle 15"/>
          <p:cNvSpPr/>
          <p:nvPr/>
        </p:nvSpPr>
        <p:spPr>
          <a:xfrm>
            <a:off x="685800" y="5715000"/>
            <a:ext cx="10789920" cy="502920"/>
          </a:xfrm>
          <a:prstGeom prst="roundRect">
            <a:avLst/>
          </a:prstGeom>
          <a:solidFill>
            <a:srgbClr val="E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51560" y="5815584"/>
            <a:ext cx="10241280" cy="320040"/>
          </a:xfrm>
          <a:prstGeom prst="rect">
            <a:avLst/>
          </a:prstGeom>
          <a:noFill/>
        </p:spPr>
        <p:txBody>
          <a:bodyPr wrap="square" lIns="0" rIns="0" tIns="0" bIns="0" anchor="t">
            <a:spAutoFit/>
          </a:bodyPr>
          <a:lstStyle/>
          <a:p>
            <a:pPr algn="l">
              <a:lnSpc>
                <a:spcPct val="115000"/>
              </a:lnSpc>
              <a:spcAft>
                <a:spcPts val="600"/>
              </a:spcAft>
            </a:pPr>
            <a:r>
              <a:rPr sz="1200" b="0">
                <a:solidFill>
                  <a:srgbClr val="0D2D2A"/>
                </a:solidFill>
                <a:latin typeface="Calibri"/>
              </a:rPr>
              <a:t>The correction-index polar plots are gone (its histogram stays in the composite). Hull peeling is no longer offered.</a:t>
            </a:r>
          </a:p>
        </p:txBody>
      </p:sp>
      <p:sp>
        <p:nvSpPr>
          <p:cNvPr id="18" name="TextBox 17"/>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19" name="TextBox 18"/>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Step 8 · Run, preview, save</a:t>
            </a:r>
          </a:p>
        </p:txBody>
      </p:sp>
      <p:sp>
        <p:nvSpPr>
          <p:cNvPr id="3" name="Rounded Rectangle 2"/>
          <p:cNvSpPr/>
          <p:nvPr/>
        </p:nvSpPr>
        <p:spPr>
          <a:xfrm>
            <a:off x="685800" y="1965960"/>
            <a:ext cx="5257800" cy="379476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51560" y="2240280"/>
            <a:ext cx="4572000" cy="365760"/>
          </a:xfrm>
          <a:prstGeom prst="rect">
            <a:avLst/>
          </a:prstGeom>
          <a:noFill/>
        </p:spPr>
        <p:txBody>
          <a:bodyPr wrap="square" lIns="0" rIns="0" tIns="0" bIns="0" anchor="t">
            <a:spAutoFit/>
          </a:bodyPr>
          <a:lstStyle/>
          <a:p>
            <a:pPr algn="l">
              <a:lnSpc>
                <a:spcPct val="115000"/>
              </a:lnSpc>
              <a:spcAft>
                <a:spcPts val="600"/>
              </a:spcAft>
            </a:pPr>
            <a:r>
              <a:rPr sz="1700" b="1">
                <a:solidFill>
                  <a:srgbClr val="0D2D2A"/>
                </a:solidFill>
                <a:latin typeface="Cambria"/>
              </a:rPr>
              <a:t>Preview first, or save at once</a:t>
            </a:r>
          </a:p>
        </p:txBody>
      </p:sp>
      <p:sp>
        <p:nvSpPr>
          <p:cNvPr id="5" name="TextBox 4"/>
          <p:cNvSpPr txBox="1"/>
          <p:nvPr/>
        </p:nvSpPr>
        <p:spPr>
          <a:xfrm>
            <a:off x="1051560" y="2880360"/>
            <a:ext cx="4617720" cy="2651760"/>
          </a:xfrm>
          <a:prstGeom prst="rect">
            <a:avLst/>
          </a:prstGeom>
          <a:noFill/>
        </p:spPr>
        <p:txBody>
          <a:bodyPr wrap="square" lIns="0" rIns="0" tIns="0" bIns="0" anchor="t">
            <a:spAutoFit/>
          </a:bodyPr>
          <a:lstStyle/>
          <a:p>
            <a:pPr algn="l">
              <a:lnSpc>
                <a:spcPct val="115000"/>
              </a:lnSpc>
              <a:spcAft>
                <a:spcPts val="300"/>
              </a:spcAft>
            </a:pPr>
            <a:r>
              <a:rPr sz="1250" b="0">
                <a:solidFill>
                  <a:srgbClr val="0D2D2A"/>
                </a:solidFill>
                <a:latin typeface="Calibri"/>
              </a:rPr>
              <a:t>Set the output folder in the left sidebar. ▶ RUN &amp; SAVE writes the results straight there.</a:t>
            </a:r>
          </a:p>
          <a:p>
            <a:pPr algn="l">
              <a:lnSpc>
                <a:spcPct val="115000"/>
              </a:lnSpc>
              <a:spcAft>
                <a:spcPts val="300"/>
              </a:spcAft>
            </a:pPr>
            <a:r>
              <a:rPr sz="1250" b="0">
                <a:solidFill>
                  <a:srgbClr val="0D2D2A"/>
                </a:solidFill>
                <a:latin typeface="Calibri"/>
              </a:rPr>
              <a:t/>
            </a:r>
          </a:p>
          <a:p>
            <a:pPr algn="l">
              <a:lnSpc>
                <a:spcPct val="115000"/>
              </a:lnSpc>
              <a:spcAft>
                <a:spcPts val="300"/>
              </a:spcAft>
            </a:pPr>
            <a:r>
              <a:rPr sz="1250" b="0">
                <a:solidFill>
                  <a:srgbClr val="0D2D2A"/>
                </a:solidFill>
                <a:latin typeface="Calibri"/>
              </a:rPr>
              <a:t>Tick Preview only to keep them inside the app until your next run or until you close it. Then press Save ALL to output folder (figures, love plots and CSV files too), or Save this one for a single workbook.</a:t>
            </a:r>
          </a:p>
          <a:p>
            <a:pPr algn="l">
              <a:lnSpc>
                <a:spcPct val="115000"/>
              </a:lnSpc>
              <a:spcAft>
                <a:spcPts val="300"/>
              </a:spcAft>
            </a:pPr>
            <a:r>
              <a:rPr sz="1250" b="0">
                <a:solidFill>
                  <a:srgbClr val="0D2D2A"/>
                </a:solidFill>
                <a:latin typeface="Calibri"/>
              </a:rPr>
              <a:t/>
            </a:r>
          </a:p>
          <a:p>
            <a:pPr algn="l">
              <a:lnSpc>
                <a:spcPct val="115000"/>
              </a:lnSpc>
              <a:spcAft>
                <a:spcPts val="300"/>
              </a:spcAft>
            </a:pPr>
            <a:r>
              <a:rPr sz="1250" b="0">
                <a:solidFill>
                  <a:srgbClr val="0D2D2A"/>
                </a:solidFill>
                <a:latin typeface="Calibri"/>
              </a:rPr>
              <a:t>The Run &amp; Results tab first lists how the numbers will be computed (Before you run); the Manifest sheet records the same.</a:t>
            </a:r>
          </a:p>
          <a:p>
            <a:pPr algn="l">
              <a:lnSpc>
                <a:spcPct val="115000"/>
              </a:lnSpc>
              <a:spcAft>
                <a:spcPts val="300"/>
              </a:spcAft>
            </a:pPr>
            <a:r>
              <a:rPr sz="1250" b="0">
                <a:solidFill>
                  <a:srgbClr val="0D2D2A"/>
                </a:solidFill>
                <a:latin typeface="Calibri"/>
              </a:rPr>
              <a:t/>
            </a:r>
          </a:p>
          <a:p>
            <a:pPr algn="l">
              <a:lnSpc>
                <a:spcPct val="115000"/>
              </a:lnSpc>
              <a:spcAft>
                <a:spcPts val="300"/>
              </a:spcAft>
            </a:pPr>
            <a:r>
              <a:rPr sz="1250" b="0">
                <a:solidFill>
                  <a:srgbClr val="0D2D2A"/>
                </a:solidFill>
                <a:latin typeface="Calibri"/>
              </a:rPr>
              <a:t>Progress and a full log are shown while R runs. Cancel stops it.</a:t>
            </a:r>
          </a:p>
        </p:txBody>
      </p:sp>
      <p:sp>
        <p:nvSpPr>
          <p:cNvPr id="6" name="Rounded Rectangle 5"/>
          <p:cNvSpPr/>
          <p:nvPr/>
        </p:nvSpPr>
        <p:spPr>
          <a:xfrm>
            <a:off x="6217920" y="1965960"/>
            <a:ext cx="5257800" cy="379476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583680" y="2240280"/>
            <a:ext cx="4572000" cy="365760"/>
          </a:xfrm>
          <a:prstGeom prst="rect">
            <a:avLst/>
          </a:prstGeom>
          <a:noFill/>
        </p:spPr>
        <p:txBody>
          <a:bodyPr wrap="square" lIns="0" rIns="0" tIns="0" bIns="0" anchor="t">
            <a:spAutoFit/>
          </a:bodyPr>
          <a:lstStyle/>
          <a:p>
            <a:pPr algn="l">
              <a:lnSpc>
                <a:spcPct val="115000"/>
              </a:lnSpc>
              <a:spcAft>
                <a:spcPts val="600"/>
              </a:spcAft>
            </a:pPr>
            <a:r>
              <a:rPr sz="1700" b="1">
                <a:solidFill>
                  <a:srgbClr val="0D2D2A"/>
                </a:solidFill>
                <a:latin typeface="Cambria"/>
              </a:rPr>
              <a:t>What you get</a:t>
            </a:r>
          </a:p>
        </p:txBody>
      </p:sp>
      <p:sp>
        <p:nvSpPr>
          <p:cNvPr id="8" name="TextBox 7"/>
          <p:cNvSpPr txBox="1"/>
          <p:nvPr/>
        </p:nvSpPr>
        <p:spPr>
          <a:xfrm>
            <a:off x="6583680" y="2880360"/>
            <a:ext cx="4617720" cy="2651760"/>
          </a:xfrm>
          <a:prstGeom prst="rect">
            <a:avLst/>
          </a:prstGeom>
          <a:noFill/>
        </p:spPr>
        <p:txBody>
          <a:bodyPr wrap="square" lIns="0" rIns="0" tIns="0" bIns="0" anchor="t">
            <a:spAutoFit/>
          </a:bodyPr>
          <a:lstStyle/>
          <a:p>
            <a:pPr algn="l">
              <a:lnSpc>
                <a:spcPct val="115000"/>
              </a:lnSpc>
              <a:spcAft>
                <a:spcPts val="400"/>
              </a:spcAft>
            </a:pPr>
            <a:r>
              <a:rPr sz="1250" b="0">
                <a:solidFill>
                  <a:srgbClr val="0D2D2A"/>
                </a:solidFill>
                <a:latin typeface="Calibri"/>
              </a:rPr>
              <a:t>•  Excel workbooks — summary, Publication Table, matching, GEE, regression and the two astigmatism sheets, with a Contents and a Manifest sheet</a:t>
            </a:r>
          </a:p>
          <a:p>
            <a:pPr algn="l">
              <a:lnSpc>
                <a:spcPct val="115000"/>
              </a:lnSpc>
              <a:spcAft>
                <a:spcPts val="400"/>
              </a:spcAft>
            </a:pPr>
            <a:r>
              <a:rPr sz="1250" b="0">
                <a:solidFill>
                  <a:srgbClr val="0D2D2A"/>
                </a:solidFill>
                <a:latin typeface="Calibri"/>
              </a:rPr>
              <a:t>•  A matched-only workbook with every pairing</a:t>
            </a:r>
          </a:p>
          <a:p>
            <a:pPr algn="l">
              <a:lnSpc>
                <a:spcPct val="115000"/>
              </a:lnSpc>
              <a:spcAft>
                <a:spcPts val="400"/>
              </a:spcAft>
            </a:pPr>
            <a:r>
              <a:rPr sz="1250" b="0">
                <a:solidFill>
                  <a:srgbClr val="0D2D2A"/>
                </a:solidFill>
                <a:latin typeface="Calibri"/>
              </a:rPr>
              <a:t>•  A love plot per matched pairing: LovePlot_&lt;prefix&gt;_&lt;run&gt;_&lt;pairing&gt;_&lt;time stamp&gt;.tiff, with its legend file</a:t>
            </a:r>
          </a:p>
          <a:p>
            <a:pPr algn="l">
              <a:lnSpc>
                <a:spcPct val="115000"/>
              </a:lnSpc>
              <a:spcAft>
                <a:spcPts val="400"/>
              </a:spcAft>
            </a:pPr>
            <a:r>
              <a:rPr sz="1250" b="0">
                <a:solidFill>
                  <a:srgbClr val="0D2D2A"/>
                </a:solidFill>
                <a:latin typeface="Calibri"/>
              </a:rPr>
              <a:t>•  A figure folder per run, with the legend files and the WHWK input folder. The combined figures are previewed in the app</a:t>
            </a:r>
          </a:p>
          <a:p>
            <a:pPr algn="l">
              <a:lnSpc>
                <a:spcPct val="115000"/>
              </a:lnSpc>
              <a:spcAft>
                <a:spcPts val="400"/>
              </a:spcAft>
            </a:pPr>
            <a:r>
              <a:rPr sz="1250" b="0">
                <a:solidFill>
                  <a:srgbClr val="0D2D2A"/>
                </a:solidFill>
                <a:latin typeface="Calibri"/>
              </a:rPr>
              <a:t>•  The astigmatism sheet as CSV, and the analyzed rows as CSV (optional)</a:t>
            </a:r>
          </a:p>
        </p:txBody>
      </p:sp>
      <p:sp>
        <p:nvSpPr>
          <p:cNvPr id="9" name="TextBox 8"/>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10" name="TextBox 9"/>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Presets — one per study</a:t>
            </a:r>
          </a:p>
        </p:txBody>
      </p:sp>
      <p:sp>
        <p:nvSpPr>
          <p:cNvPr id="3" name="TextBox 2"/>
          <p:cNvSpPr txBox="1"/>
          <p:nvPr/>
        </p:nvSpPr>
        <p:spPr>
          <a:xfrm>
            <a:off x="685800" y="1371600"/>
            <a:ext cx="10789920" cy="411480"/>
          </a:xfrm>
          <a:prstGeom prst="rect">
            <a:avLst/>
          </a:prstGeom>
          <a:noFill/>
        </p:spPr>
        <p:txBody>
          <a:bodyPr wrap="square" lIns="0" rIns="0" tIns="0" bIns="0" anchor="t">
            <a:spAutoFit/>
          </a:bodyPr>
          <a:lstStyle/>
          <a:p>
            <a:pPr algn="l">
              <a:lnSpc>
                <a:spcPct val="115000"/>
              </a:lnSpc>
              <a:spcAft>
                <a:spcPts val="600"/>
              </a:spcAft>
            </a:pPr>
            <a:r>
              <a:rPr sz="1500" b="0">
                <a:solidFill>
                  <a:srgbClr val="4F6763"/>
                </a:solidFill>
                <a:latin typeface="Calibri"/>
              </a:rPr>
              <a:t>Save every setting of a project and reload it in one click</a:t>
            </a:r>
          </a:p>
        </p:txBody>
      </p:sp>
      <p:sp>
        <p:nvSpPr>
          <p:cNvPr id="4" name="Rounded Rectangle 3"/>
          <p:cNvSpPr/>
          <p:nvPr/>
        </p:nvSpPr>
        <p:spPr>
          <a:xfrm>
            <a:off x="685800" y="2103120"/>
            <a:ext cx="10789920" cy="1371600"/>
          </a:xfrm>
          <a:prstGeom prst="roundRect">
            <a:avLst/>
          </a:prstGeom>
          <a:solidFill>
            <a:srgbClr val="E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2395728"/>
            <a:ext cx="10058400" cy="822960"/>
          </a:xfrm>
          <a:prstGeom prst="rect">
            <a:avLst/>
          </a:prstGeom>
          <a:noFill/>
        </p:spPr>
        <p:txBody>
          <a:bodyPr wrap="square" lIns="0" rIns="0" tIns="0" bIns="0" anchor="t">
            <a:spAutoFit/>
          </a:bodyPr>
          <a:lstStyle/>
          <a:p>
            <a:pPr algn="l">
              <a:lnSpc>
                <a:spcPct val="115000"/>
              </a:lnSpc>
              <a:spcAft>
                <a:spcPts val="600"/>
              </a:spcAft>
            </a:pPr>
            <a:r>
              <a:rPr sz="1500" b="0">
                <a:solidFill>
                  <a:srgbClr val="0D2D2A"/>
                </a:solidFill>
                <a:latin typeface="Calibri"/>
              </a:rPr>
              <a:t>A preset stores everything: groups, variable typing, filters, subsets, matching, regression and figure choices.</a:t>
            </a:r>
          </a:p>
        </p:txBody>
      </p:sp>
      <p:sp>
        <p:nvSpPr>
          <p:cNvPr id="6" name="Oval 5"/>
          <p:cNvSpPr/>
          <p:nvPr/>
        </p:nvSpPr>
        <p:spPr>
          <a:xfrm>
            <a:off x="868680" y="3721607"/>
            <a:ext cx="384048" cy="38404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a:t>
            </a:r>
          </a:p>
        </p:txBody>
      </p:sp>
      <p:sp>
        <p:nvSpPr>
          <p:cNvPr id="7" name="TextBox 6"/>
          <p:cNvSpPr txBox="1"/>
          <p:nvPr/>
        </p:nvSpPr>
        <p:spPr>
          <a:xfrm>
            <a:off x="1417320" y="3703320"/>
            <a:ext cx="2011680" cy="36576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Save</a:t>
            </a:r>
          </a:p>
        </p:txBody>
      </p:sp>
      <p:sp>
        <p:nvSpPr>
          <p:cNvPr id="8" name="TextBox 7"/>
          <p:cNvSpPr txBox="1"/>
          <p:nvPr/>
        </p:nvSpPr>
        <p:spPr>
          <a:xfrm>
            <a:off x="3566160" y="3703320"/>
            <a:ext cx="7863840" cy="54864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Name the study and click save. It is stored inside the app on your own computer.</a:t>
            </a:r>
          </a:p>
        </p:txBody>
      </p:sp>
      <p:sp>
        <p:nvSpPr>
          <p:cNvPr id="9" name="Oval 8"/>
          <p:cNvSpPr/>
          <p:nvPr/>
        </p:nvSpPr>
        <p:spPr>
          <a:xfrm>
            <a:off x="868680" y="4398264"/>
            <a:ext cx="384048" cy="38404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a:t>
            </a:r>
          </a:p>
        </p:txBody>
      </p:sp>
      <p:sp>
        <p:nvSpPr>
          <p:cNvPr id="10" name="TextBox 9"/>
          <p:cNvSpPr txBox="1"/>
          <p:nvPr/>
        </p:nvSpPr>
        <p:spPr>
          <a:xfrm>
            <a:off x="1417320" y="4379976"/>
            <a:ext cx="2011680" cy="36576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Reload</a:t>
            </a:r>
          </a:p>
        </p:txBody>
      </p:sp>
      <p:sp>
        <p:nvSpPr>
          <p:cNvPr id="11" name="TextBox 10"/>
          <p:cNvSpPr txBox="1"/>
          <p:nvPr/>
        </p:nvSpPr>
        <p:spPr>
          <a:xfrm>
            <a:off x="3566160" y="4379976"/>
            <a:ext cx="7863840" cy="54864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Load the Excel file, then click the preset to restore the entire configuration. A preset never loads the data file itself.</a:t>
            </a:r>
          </a:p>
        </p:txBody>
      </p:sp>
      <p:sp>
        <p:nvSpPr>
          <p:cNvPr id="12" name="Oval 11"/>
          <p:cNvSpPr/>
          <p:nvPr/>
        </p:nvSpPr>
        <p:spPr>
          <a:xfrm>
            <a:off x="868680" y="5074920"/>
            <a:ext cx="384048" cy="38404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a:t>
            </a:r>
          </a:p>
        </p:txBody>
      </p:sp>
      <p:sp>
        <p:nvSpPr>
          <p:cNvPr id="13" name="TextBox 12"/>
          <p:cNvSpPr txBox="1"/>
          <p:nvPr/>
        </p:nvSpPr>
        <p:spPr>
          <a:xfrm>
            <a:off x="1417320" y="5056632"/>
            <a:ext cx="2011680" cy="365760"/>
          </a:xfrm>
          <a:prstGeom prst="rect">
            <a:avLst/>
          </a:prstGeom>
          <a:noFill/>
        </p:spPr>
        <p:txBody>
          <a:bodyPr wrap="square" lIns="0" rIns="0" tIns="0" bIns="0" anchor="t">
            <a:spAutoFit/>
          </a:bodyPr>
          <a:lstStyle/>
          <a:p>
            <a:pPr algn="l">
              <a:lnSpc>
                <a:spcPct val="115000"/>
              </a:lnSpc>
              <a:spcAft>
                <a:spcPts val="600"/>
              </a:spcAft>
            </a:pPr>
            <a:r>
              <a:rPr sz="1450" b="1">
                <a:solidFill>
                  <a:srgbClr val="0D2D2A"/>
                </a:solidFill>
                <a:latin typeface="Calibri"/>
              </a:rPr>
              <a:t>Share</a:t>
            </a:r>
          </a:p>
        </p:txBody>
      </p:sp>
      <p:sp>
        <p:nvSpPr>
          <p:cNvPr id="14" name="TextBox 13"/>
          <p:cNvSpPr txBox="1"/>
          <p:nvPr/>
        </p:nvSpPr>
        <p:spPr>
          <a:xfrm>
            <a:off x="3566160" y="5056632"/>
            <a:ext cx="7863840" cy="548640"/>
          </a:xfrm>
          <a:prstGeom prst="rect">
            <a:avLst/>
          </a:prstGeom>
          <a:noFill/>
        </p:spPr>
        <p:txBody>
          <a:bodyPr wrap="square" lIns="0" rIns="0" tIns="0" bIns="0" anchor="t">
            <a:spAutoFit/>
          </a:bodyPr>
          <a:lstStyle/>
          <a:p>
            <a:pPr algn="l">
              <a:lnSpc>
                <a:spcPct val="115000"/>
              </a:lnSpc>
              <a:spcAft>
                <a:spcPts val="600"/>
              </a:spcAft>
            </a:pPr>
            <a:r>
              <a:rPr sz="1300" b="0">
                <a:solidFill>
                  <a:srgbClr val="4F6763"/>
                </a:solidFill>
                <a:latin typeface="Calibri"/>
              </a:rPr>
              <a:t>Click Download config JSON and send it to a colleague. They click Load config JSON and get your exact setup. The data file is not inside, so they load their own copy of it.</a:t>
            </a:r>
          </a:p>
        </p:txBody>
      </p:sp>
      <p:sp>
        <p:nvSpPr>
          <p:cNvPr id="15" name="TextBox 14"/>
          <p:cNvSpPr txBox="1"/>
          <p:nvPr/>
        </p:nvSpPr>
        <p:spPr>
          <a:xfrm>
            <a:off x="685800" y="5760720"/>
            <a:ext cx="10789920" cy="548640"/>
          </a:xfrm>
          <a:prstGeom prst="rect">
            <a:avLst/>
          </a:prstGeom>
          <a:noFill/>
        </p:spPr>
        <p:txBody>
          <a:bodyPr wrap="square" lIns="0" rIns="0" tIns="0" bIns="0" anchor="t">
            <a:spAutoFit/>
          </a:bodyPr>
          <a:lstStyle/>
          <a:p>
            <a:pPr algn="l">
              <a:lnSpc>
                <a:spcPct val="115000"/>
              </a:lnSpc>
              <a:spcAft>
                <a:spcPts val="600"/>
              </a:spcAft>
            </a:pPr>
            <a:r>
              <a:rPr sz="1250" b="0">
                <a:solidFill>
                  <a:srgbClr val="4F6763"/>
                </a:solidFill>
                <a:latin typeface="Calibri"/>
              </a:rPr>
              <a:t>Seven worked ‘Example – …’ presets are included. Load Example Data\Example_Refractive_Dataset.xlsx (simulated cohorts Reference, Cohort A and Cohort B; its README sheet gives the model), click one, tick Preview only and press RUN.</a:t>
            </a:r>
          </a:p>
        </p:txBody>
      </p:sp>
      <p:sp>
        <p:nvSpPr>
          <p:cNvPr id="16" name="TextBox 15"/>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17" name="TextBox 16"/>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lIns="0" rIns="0" tIns="0" bIns="0" anchor="t">
            <a:spAutoFit/>
          </a:bodyPr>
          <a:lstStyle/>
          <a:p>
            <a:pPr algn="l">
              <a:lnSpc>
                <a:spcPct val="115000"/>
              </a:lnSpc>
              <a:spcAft>
                <a:spcPts val="600"/>
              </a:spcAft>
            </a:pPr>
            <a:r>
              <a:rPr sz="3800" b="1">
                <a:solidFill>
                  <a:srgbClr val="0D2D2A"/>
                </a:solidFill>
                <a:latin typeface="Cambria"/>
              </a:rPr>
              <a:t>If something goes wrong</a:t>
            </a:r>
          </a:p>
        </p:txBody>
      </p:sp>
      <p:sp>
        <p:nvSpPr>
          <p:cNvPr id="3" name="Rounded Rectangle 2"/>
          <p:cNvSpPr/>
          <p:nvPr/>
        </p:nvSpPr>
        <p:spPr>
          <a:xfrm>
            <a:off x="685800" y="1755648"/>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1810512"/>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“Windows protected your PC”</a:t>
            </a:r>
          </a:p>
        </p:txBody>
      </p:sp>
      <p:sp>
        <p:nvSpPr>
          <p:cNvPr id="5" name="TextBox 4"/>
          <p:cNvSpPr txBox="1"/>
          <p:nvPr/>
        </p:nvSpPr>
        <p:spPr>
          <a:xfrm>
            <a:off x="4892040" y="1810512"/>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Click More info, then Run anyway. To avoid it, tick Unblock in the ZIP’s Properties first.</a:t>
            </a:r>
          </a:p>
        </p:txBody>
      </p:sp>
      <p:sp>
        <p:nvSpPr>
          <p:cNvPr id="6" name="Rounded Rectangle 5"/>
          <p:cNvSpPr/>
          <p:nvPr/>
        </p:nvSpPr>
        <p:spPr>
          <a:xfrm>
            <a:off x="685800" y="2258568"/>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313432"/>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“Windows security blocked a component”</a:t>
            </a:r>
          </a:p>
        </p:txBody>
      </p:sp>
      <p:sp>
        <p:nvSpPr>
          <p:cNvPr id="8" name="TextBox 7"/>
          <p:cNvSpPr txBox="1"/>
          <p:nvPr/>
        </p:nvSpPr>
        <p:spPr>
          <a:xfrm>
            <a:off x="4892040" y="2313432"/>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Smart App Control or an antivirus blocked the runtime. Ask IT to allow this folder.</a:t>
            </a:r>
          </a:p>
        </p:txBody>
      </p:sp>
      <p:sp>
        <p:nvSpPr>
          <p:cNvPr id="9" name="Rounded Rectangle 8"/>
          <p:cNvSpPr/>
          <p:nvPr/>
        </p:nvSpPr>
        <p:spPr>
          <a:xfrm>
            <a:off x="685800" y="2761487"/>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816351"/>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“Python runtime is missing”</a:t>
            </a:r>
          </a:p>
        </p:txBody>
      </p:sp>
      <p:sp>
        <p:nvSpPr>
          <p:cNvPr id="11" name="TextBox 10"/>
          <p:cNvSpPr txBox="1"/>
          <p:nvPr/>
        </p:nvSpPr>
        <p:spPr>
          <a:xfrm>
            <a:off x="4892040" y="2816351"/>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The folder was copied incompletely, or is still inside a ZIP. Copy the whole folder again.</a:t>
            </a:r>
          </a:p>
        </p:txBody>
      </p:sp>
      <p:sp>
        <p:nvSpPr>
          <p:cNvPr id="12" name="Rounded Rectangle 11"/>
          <p:cNvSpPr/>
          <p:nvPr/>
        </p:nvSpPr>
        <p:spPr>
          <a:xfrm>
            <a:off x="685800" y="3264407"/>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3319271"/>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“Cannot write to its own folder”</a:t>
            </a:r>
          </a:p>
        </p:txBody>
      </p:sp>
      <p:sp>
        <p:nvSpPr>
          <p:cNvPr id="14" name="TextBox 13"/>
          <p:cNvSpPr txBox="1"/>
          <p:nvPr/>
        </p:nvSpPr>
        <p:spPr>
          <a:xfrm>
            <a:off x="4892040" y="3319271"/>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Move the whole folder to Documents or C:\StandardEyes, not C:\Program Files.</a:t>
            </a:r>
          </a:p>
        </p:txBody>
      </p:sp>
      <p:sp>
        <p:nvSpPr>
          <p:cNvPr id="15" name="Rounded Rectangle 14"/>
          <p:cNvSpPr/>
          <p:nvPr/>
        </p:nvSpPr>
        <p:spPr>
          <a:xfrm>
            <a:off x="685800" y="3767327"/>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005840" y="3822191"/>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The browser shows nothing</a:t>
            </a:r>
          </a:p>
        </p:txBody>
      </p:sp>
      <p:sp>
        <p:nvSpPr>
          <p:cNvPr id="17" name="TextBox 16"/>
          <p:cNvSpPr txBox="1"/>
          <p:nvPr/>
        </p:nvSpPr>
        <p:spPr>
          <a:xfrm>
            <a:off x="4892040" y="3822191"/>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Wait a few seconds, then reload the address printed in the console window.</a:t>
            </a:r>
          </a:p>
        </p:txBody>
      </p:sp>
      <p:sp>
        <p:nvSpPr>
          <p:cNvPr id="18" name="Rounded Rectangle 17"/>
          <p:cNvSpPr/>
          <p:nvPr/>
        </p:nvSpPr>
        <p:spPr>
          <a:xfrm>
            <a:off x="685800" y="4270247"/>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05840" y="4325111"/>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“R is not set up yet”</a:t>
            </a:r>
          </a:p>
        </p:txBody>
      </p:sp>
      <p:sp>
        <p:nvSpPr>
          <p:cNvPr id="20" name="TextBox 19"/>
          <p:cNvSpPr txBox="1"/>
          <p:nvPr/>
        </p:nvSpPr>
        <p:spPr>
          <a:xfrm>
            <a:off x="4892040" y="4325111"/>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Click ⚙ R setup at the top right and point it at Rscript.exe.</a:t>
            </a:r>
          </a:p>
        </p:txBody>
      </p:sp>
      <p:sp>
        <p:nvSpPr>
          <p:cNvPr id="21" name="Rounded Rectangle 20"/>
          <p:cNvSpPr/>
          <p:nvPr/>
        </p:nvSpPr>
        <p:spPr>
          <a:xfrm>
            <a:off x="685800" y="4773167"/>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5840" y="4828031"/>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A red “out of date” bar</a:t>
            </a:r>
          </a:p>
        </p:txBody>
      </p:sp>
      <p:sp>
        <p:nvSpPr>
          <p:cNvPr id="23" name="TextBox 22"/>
          <p:cNvSpPr txBox="1"/>
          <p:nvPr/>
        </p:nvSpPr>
        <p:spPr>
          <a:xfrm>
            <a:off x="4892040" y="4828031"/>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Close the console window, start the app again, then press Ctrl+F5.</a:t>
            </a:r>
          </a:p>
        </p:txBody>
      </p:sp>
      <p:sp>
        <p:nvSpPr>
          <p:cNvPr id="24" name="Rounded Rectangle 23"/>
          <p:cNvSpPr/>
          <p:nvPr/>
        </p:nvSpPr>
        <p:spPr>
          <a:xfrm>
            <a:off x="685800" y="5276087"/>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05840" y="5330951"/>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The analysis fails immediately</a:t>
            </a:r>
          </a:p>
        </p:txBody>
      </p:sp>
      <p:sp>
        <p:nvSpPr>
          <p:cNvPr id="26" name="TextBox 25"/>
          <p:cNvSpPr txBox="1"/>
          <p:nvPr/>
        </p:nvSpPr>
        <p:spPr>
          <a:xfrm>
            <a:off x="4892040" y="5330951"/>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Check that R is version 4.5.x and the VA notation of your file. The log says why.</a:t>
            </a:r>
          </a:p>
        </p:txBody>
      </p:sp>
      <p:sp>
        <p:nvSpPr>
          <p:cNvPr id="27" name="Rounded Rectangle 26"/>
          <p:cNvSpPr/>
          <p:nvPr/>
        </p:nvSpPr>
        <p:spPr>
          <a:xfrm>
            <a:off x="685800" y="5779007"/>
            <a:ext cx="10789920" cy="457200"/>
          </a:xfrm>
          <a:prstGeom prst="roundRect">
            <a:avLst/>
          </a:prstGeom>
          <a:solidFill>
            <a:srgbClr val="F5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05840" y="5833871"/>
            <a:ext cx="3749039" cy="292608"/>
          </a:xfrm>
          <a:prstGeom prst="rect">
            <a:avLst/>
          </a:prstGeom>
          <a:noFill/>
        </p:spPr>
        <p:txBody>
          <a:bodyPr wrap="square" lIns="0" rIns="0" tIns="0" bIns="0" anchor="t">
            <a:spAutoFit/>
          </a:bodyPr>
          <a:lstStyle/>
          <a:p>
            <a:pPr algn="l">
              <a:lnSpc>
                <a:spcPct val="115000"/>
              </a:lnSpc>
              <a:spcAft>
                <a:spcPts val="600"/>
              </a:spcAft>
            </a:pPr>
            <a:r>
              <a:rPr sz="1300" b="1">
                <a:solidFill>
                  <a:srgbClr val="0F766E"/>
                </a:solidFill>
                <a:latin typeface="Calibri"/>
              </a:rPr>
              <a:t>Am I in the right app?</a:t>
            </a:r>
          </a:p>
        </p:txBody>
      </p:sp>
      <p:sp>
        <p:nvSpPr>
          <p:cNvPr id="29" name="TextBox 28"/>
          <p:cNvSpPr txBox="1"/>
          <p:nvPr/>
        </p:nvSpPr>
        <p:spPr>
          <a:xfrm>
            <a:off x="4892040" y="5833871"/>
            <a:ext cx="6355080" cy="329184"/>
          </a:xfrm>
          <a:prstGeom prst="rect">
            <a:avLst/>
          </a:prstGeom>
          <a:noFill/>
        </p:spPr>
        <p:txBody>
          <a:bodyPr wrap="square" lIns="0" rIns="0" tIns="0" bIns="0" anchor="t">
            <a:spAutoFit/>
          </a:bodyPr>
          <a:lstStyle/>
          <a:p>
            <a:pPr algn="l">
              <a:lnSpc>
                <a:spcPct val="115000"/>
              </a:lnSpc>
              <a:spcAft>
                <a:spcPts val="600"/>
              </a:spcAft>
            </a:pPr>
            <a:r>
              <a:rPr sz="1200" b="0">
                <a:solidFill>
                  <a:srgbClr val="4F6763"/>
                </a:solidFill>
                <a:latin typeface="Calibri"/>
              </a:rPr>
              <a:t>The header shows StandardEyes and a version such as v1.1.0 (build 2026-10-04-se.10).</a:t>
            </a:r>
          </a:p>
        </p:txBody>
      </p:sp>
      <p:sp>
        <p:nvSpPr>
          <p:cNvPr id="30" name="TextBox 29"/>
          <p:cNvSpPr txBox="1"/>
          <p:nvPr/>
        </p:nvSpPr>
        <p:spPr>
          <a:xfrm>
            <a:off x="685800" y="6355080"/>
            <a:ext cx="7315200" cy="274320"/>
          </a:xfrm>
          <a:prstGeom prst="rect">
            <a:avLst/>
          </a:prstGeom>
          <a:noFill/>
        </p:spPr>
        <p:txBody>
          <a:bodyPr wrap="square" lIns="0" rIns="0" tIns="0" bIns="0" anchor="t">
            <a:spAutoFit/>
          </a:bodyPr>
          <a:lstStyle/>
          <a:p>
            <a:pPr algn="l">
              <a:lnSpc>
                <a:spcPct val="115000"/>
              </a:lnSpc>
              <a:spcAft>
                <a:spcPts val="600"/>
              </a:spcAft>
            </a:pPr>
            <a:r>
              <a:rPr sz="1000" b="0">
                <a:solidFill>
                  <a:srgbClr val="4F6763"/>
                </a:solidFill>
                <a:latin typeface="Calibri"/>
              </a:rPr>
              <a:t>StandardEyes</a:t>
            </a:r>
          </a:p>
        </p:txBody>
      </p:sp>
      <p:sp>
        <p:nvSpPr>
          <p:cNvPr id="31" name="TextBox 30"/>
          <p:cNvSpPr txBox="1"/>
          <p:nvPr/>
        </p:nvSpPr>
        <p:spPr>
          <a:xfrm>
            <a:off x="10058400" y="6355080"/>
            <a:ext cx="1417320" cy="274320"/>
          </a:xfrm>
          <a:prstGeom prst="rect">
            <a:avLst/>
          </a:prstGeom>
          <a:noFill/>
        </p:spPr>
        <p:txBody>
          <a:bodyPr wrap="square" lIns="0" rIns="0" tIns="0" bIns="0" anchor="t">
            <a:spAutoFit/>
          </a:bodyPr>
          <a:lstStyle/>
          <a:p>
            <a:pPr algn="r">
              <a:lnSpc>
                <a:spcPct val="115000"/>
              </a:lnSpc>
              <a:spcAft>
                <a:spcPts val="600"/>
              </a:spcAft>
            </a:pPr>
            <a:r>
              <a:rPr sz="1000" b="0">
                <a:solidFill>
                  <a:srgbClr val="4F6763"/>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2D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0"/>
            <a:ext cx="10515600" cy="1097280"/>
          </a:xfrm>
          <a:prstGeom prst="rect">
            <a:avLst/>
          </a:prstGeom>
          <a:noFill/>
        </p:spPr>
        <p:txBody>
          <a:bodyPr wrap="square" lIns="0" rIns="0" tIns="0" bIns="0" anchor="t">
            <a:spAutoFit/>
          </a:bodyPr>
          <a:lstStyle/>
          <a:p>
            <a:pPr algn="l">
              <a:lnSpc>
                <a:spcPct val="115000"/>
              </a:lnSpc>
              <a:spcAft>
                <a:spcPts val="600"/>
              </a:spcAft>
            </a:pPr>
            <a:r>
              <a:rPr sz="3400" b="1">
                <a:solidFill>
                  <a:srgbClr val="FFFFFF"/>
                </a:solidFill>
                <a:latin typeface="Cambria"/>
              </a:rPr>
              <a:t>Everything runs on your own computer.</a:t>
            </a:r>
          </a:p>
        </p:txBody>
      </p:sp>
      <p:sp>
        <p:nvSpPr>
          <p:cNvPr id="4" name="TextBox 3"/>
          <p:cNvSpPr txBox="1"/>
          <p:nvPr/>
        </p:nvSpPr>
        <p:spPr>
          <a:xfrm>
            <a:off x="822960" y="3429000"/>
            <a:ext cx="10058400" cy="914400"/>
          </a:xfrm>
          <a:prstGeom prst="rect">
            <a:avLst/>
          </a:prstGeom>
          <a:noFill/>
        </p:spPr>
        <p:txBody>
          <a:bodyPr wrap="square" lIns="0" rIns="0" tIns="0" bIns="0" anchor="t">
            <a:spAutoFit/>
          </a:bodyPr>
          <a:lstStyle/>
          <a:p>
            <a:pPr algn="l">
              <a:lnSpc>
                <a:spcPct val="115000"/>
              </a:lnSpc>
              <a:spcAft>
                <a:spcPts val="600"/>
              </a:spcAft>
            </a:pPr>
            <a:r>
              <a:rPr sz="1700" b="0">
                <a:solidFill>
                  <a:srgbClr val="E6F5F3"/>
                </a:solidFill>
                <a:latin typeface="Calibri"/>
              </a:rPr>
              <a:t>No data leaves the machine, no internet connection is needed, and no packages are ever installed.</a:t>
            </a:r>
          </a:p>
          <a:p>
            <a:pPr algn="l">
              <a:lnSpc>
                <a:spcPct val="115000"/>
              </a:lnSpc>
              <a:spcAft>
                <a:spcPts val="600"/>
              </a:spcAft>
            </a:pPr>
            <a:r>
              <a:rPr sz="1700" b="0">
                <a:solidFill>
                  <a:srgbClr val="E6F5F3"/>
                </a:solidFill>
                <a:latin typeface="Calibri"/>
              </a:rPr>
              <a:t>Newer versions: standardeyes.github.io</a:t>
            </a:r>
          </a:p>
        </p:txBody>
      </p:sp>
      <p:sp>
        <p:nvSpPr>
          <p:cNvPr id="5" name="TextBox 4"/>
          <p:cNvSpPr txBox="1"/>
          <p:nvPr/>
        </p:nvSpPr>
        <p:spPr>
          <a:xfrm>
            <a:off x="822960" y="5029200"/>
            <a:ext cx="8229600" cy="365760"/>
          </a:xfrm>
          <a:prstGeom prst="rect">
            <a:avLst/>
          </a:prstGeom>
          <a:noFill/>
        </p:spPr>
        <p:txBody>
          <a:bodyPr wrap="square" lIns="0" rIns="0" tIns="0" bIns="0" anchor="t">
            <a:spAutoFit/>
          </a:bodyPr>
          <a:lstStyle/>
          <a:p>
            <a:pPr algn="l">
              <a:lnSpc>
                <a:spcPct val="115000"/>
              </a:lnSpc>
              <a:spcAft>
                <a:spcPts val="600"/>
              </a:spcAft>
            </a:pPr>
            <a:r>
              <a:rPr sz="1500" b="0">
                <a:solidFill>
                  <a:srgbClr val="E6F5F3"/>
                </a:solidFill>
                <a:latin typeface="Calibri"/>
              </a:rPr>
              <a:t>StandardEyes · Refractive surgery analysis</a:t>
            </a:r>
          </a:p>
        </p:txBody>
      </p:sp>
      <p:sp>
        <p:nvSpPr>
          <p:cNvPr id="6" name="TextBox 5"/>
          <p:cNvSpPr txBox="1"/>
          <p:nvPr/>
        </p:nvSpPr>
        <p:spPr>
          <a:xfrm>
            <a:off x="822960" y="5486400"/>
            <a:ext cx="8229600" cy="411480"/>
          </a:xfrm>
          <a:prstGeom prst="rect">
            <a:avLst/>
          </a:prstGeom>
          <a:noFill/>
        </p:spPr>
        <p:txBody>
          <a:bodyPr wrap="square" lIns="0" rIns="0" tIns="0" bIns="0" anchor="t">
            <a:spAutoFit/>
          </a:bodyPr>
          <a:lstStyle/>
          <a:p>
            <a:pPr algn="l">
              <a:lnSpc>
                <a:spcPct val="115000"/>
              </a:lnSpc>
              <a:spcAft>
                <a:spcPts val="600"/>
              </a:spcAft>
            </a:pPr>
            <a:r>
              <a:rPr sz="1900" b="1">
                <a:solidFill>
                  <a:srgbClr val="5EEAD4"/>
                </a:solidFill>
                <a:latin typeface="Calibri"/>
              </a:rPr>
              <a:t>By Noyman DBE, Mimouni M, Safir 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