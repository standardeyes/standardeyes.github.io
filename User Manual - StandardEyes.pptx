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1600200"/>
            <a:ext cx="566928" cy="566928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2763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DE7F3"/>
                </a:solidFill>
                <a:latin typeface="Calibri"/>
              </a:rPr>
              <a:t>REFRACTIVE SURGERY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800" b="1">
                <a:solidFill>
                  <a:srgbClr val="FFFFFF"/>
                </a:solidFill>
                <a:latin typeface="Cambria"/>
              </a:rPr>
              <a:t>StandardEyes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800" b="1">
                <a:solidFill>
                  <a:srgbClr val="FFFFFF"/>
                </a:solidFill>
                <a:latin typeface="Cambria"/>
              </a:rPr>
              <a:t>Refractive surgery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434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FDE7F3"/>
                </a:solidFill>
                <a:latin typeface="Calibri"/>
              </a:rPr>
              <a:t>User manual &amp;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94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6EB4"/>
                </a:solidFill>
                <a:latin typeface="Calibri"/>
              </a:rPr>
              <a:t>By Noyman DBE, Mimouni M, Safir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3D2434"/>
                </a:solidFill>
                <a:latin typeface="Cambria"/>
              </a:rPr>
              <a:t>What this app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71627C"/>
                </a:solidFill>
                <a:latin typeface="Calibri"/>
              </a:rPr>
              <a:t>One tool from raw Excel to publication-ready tables and figures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9601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60120" y="2212848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2148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D2434"/>
                </a:solidFill>
                <a:latin typeface="Calibri"/>
              </a:rPr>
              <a:t>Compare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167128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1627C"/>
                </a:solidFill>
                <a:latin typeface="Calibri"/>
              </a:rPr>
              <a:t>Summary tables for any number of groups, with the right test chosen per variable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39"/>
            <a:ext cx="10789920" cy="9601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0120" y="3310127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2461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D2434"/>
                </a:solidFill>
                <a:latin typeface="Calibri"/>
              </a:rPr>
              <a:t>Match fairly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264408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1627C"/>
                </a:solidFill>
                <a:latin typeface="Calibri"/>
              </a:rPr>
              <a:t>Propensity-score matching (MatchIt) with a live matched-count preview and balance reporting.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60520"/>
            <a:ext cx="10789920" cy="9601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60120" y="4407408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4343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D2434"/>
                </a:solidFill>
                <a:latin typeface="Calibri"/>
              </a:rPr>
              <a:t>Model properly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361688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1627C"/>
                </a:solidFill>
                <a:latin typeface="Calibri"/>
              </a:rPr>
              <a:t>Clustered GEE so both eyes of a patient are handled correctly, plus covariate-adjusted regression.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257800"/>
            <a:ext cx="10789920" cy="9601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60120" y="5504688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5440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D2434"/>
                </a:solidFill>
                <a:latin typeface="Calibri"/>
              </a:rPr>
              <a:t>Publish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458968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1627C"/>
                </a:solidFill>
                <a:latin typeface="Calibri"/>
              </a:rPr>
              <a:t>The StandardEyes figures — every group on one chart, each panel separately and combined, JCRS double-angle astigmatism plots, semicircle vector plots and stability over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StandardEyes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355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3D2434"/>
                </a:solidFill>
                <a:latin typeface="Cambria"/>
              </a:rPr>
              <a:t>Before you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71627C"/>
                </a:solidFill>
                <a:latin typeface="Calibri"/>
              </a:rPr>
              <a:t>Almost everything is already inside the folder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5257800" cy="3566160"/>
          </a:xfrm>
          <a:prstGeom prst="roundRect">
            <a:avLst/>
          </a:prstGeom>
          <a:solidFill>
            <a:srgbClr val="FD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51560" y="2286000"/>
            <a:ext cx="502920" cy="50292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377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D2434"/>
                </a:solidFill>
                <a:latin typeface="Cambria"/>
              </a:rPr>
              <a:t>You need R 4.5.x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0896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The statistics run in R, so R must be installed on your computer.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Use R 4.5 (not 4.6 or later): cran.r-project.org/bin/windows/base/old/4.5.2/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Typical location: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C:\Program Files\R\R-4.5.2\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The app finds it automatically. If it can't, it asks you — see the next slide.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65960"/>
            <a:ext cx="5257800" cy="356616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583680" y="228600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377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D2434"/>
                </a:solidFill>
                <a:latin typeface="Cambria"/>
              </a:rPr>
              <a:t>Already included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•  The Python runtime that serves the app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•  All 48 R packages the analysis needs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•  The full statistical engine and figure code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Nothing is installed on your machine and nothing is downloaded — it works on a restricted network.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StandardEyes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355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3D2434"/>
                </a:solidFill>
                <a:latin typeface="Cambria"/>
              </a:rPr>
              <a:t>Starting the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71627C"/>
                </a:solidFill>
                <a:latin typeface="Calibri"/>
              </a:rPr>
              <a:t>Three steps, once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2011680"/>
            <a:ext cx="658368" cy="658368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2996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D2434"/>
                </a:solidFill>
                <a:latin typeface="Cambria"/>
              </a:rPr>
              <a:t>Copy the whole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468880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71627C"/>
                </a:solidFill>
                <a:latin typeface="Calibri"/>
              </a:rPr>
              <a:t>Put it in a folder you can write to, e.g. C:\StandardEyes or Documents — not C:\Program Files. Keep every subfolder; don't run it from inside a ZIP.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246120"/>
            <a:ext cx="658368" cy="658368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26440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D2434"/>
                </a:solidFill>
                <a:latin typeface="Cambria"/>
              </a:rPr>
              <a:t>Double-click the launcher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703320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71627C"/>
                </a:solidFill>
                <a:latin typeface="Calibri"/>
              </a:rPr>
              <a:t>Start StandardEyes.bat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480560"/>
            <a:ext cx="658368" cy="658368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4988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D2434"/>
                </a:solidFill>
                <a:latin typeface="Cambria"/>
              </a:rPr>
              <a:t>Work in your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937760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71627C"/>
                </a:solidFill>
                <a:latin typeface="Calibri"/>
              </a:rPr>
              <a:t>It opens automatically on a free port, shown in the console window — so it never clashes with another 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623560"/>
            <a:ext cx="10607040" cy="658368"/>
          </a:xfrm>
          <a:prstGeom prst="roundRect">
            <a:avLst/>
          </a:prstGeom>
          <a:solidFill>
            <a:srgbClr val="FD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5788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3D2434"/>
                </a:solidFill>
                <a:latin typeface="Calibri"/>
              </a:rPr>
              <a:t>Keep the black console window open while you work. </a:t>
            </a:r>
            <a:r>
              <a:rPr sz="1350" b="0">
                <a:solidFill>
                  <a:srgbClr val="3D2434"/>
                </a:solidFill>
                <a:latin typeface="Calibri"/>
              </a:rPr>
              <a:t>Closing it stops the app.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StandardEyes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55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3D2434"/>
                </a:solidFill>
                <a:latin typeface="Cambria"/>
              </a:rPr>
              <a:t>If the app can't find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71627C"/>
                </a:solidFill>
                <a:latin typeface="Calibri"/>
              </a:rPr>
              <a:t>A one-time Setup screen appears — you can also reopen it any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228600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D2434"/>
                </a:solidFill>
                <a:latin typeface="Calibri"/>
              </a:rPr>
              <a:t>You have three ways to point it at R: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761488"/>
            <a:ext cx="310896" cy="310896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7432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3D2434"/>
                </a:solidFill>
                <a:latin typeface="Calibri"/>
              </a:rPr>
              <a:t>Pick from the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1627C"/>
                </a:solidFill>
                <a:latin typeface="Calibri"/>
              </a:rPr>
              <a:t>Any R installation found on the computer is listed — click one.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236976"/>
            <a:ext cx="310896" cy="310896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2186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3D2434"/>
                </a:solidFill>
                <a:latin typeface="Calibri"/>
              </a:rPr>
              <a:t>Browse…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18688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1627C"/>
                </a:solidFill>
                <a:latin typeface="Calibri"/>
              </a:rPr>
              <a:t>Opens a file picker. Choose Rscript.exe inside R's bin folder.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712463"/>
            <a:ext cx="310896" cy="310896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69417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3D2434"/>
                </a:solidFill>
                <a:latin typeface="Calibri"/>
              </a:rPr>
              <a:t>Paste the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694176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1627C"/>
                </a:solidFill>
                <a:latin typeface="Calibri"/>
              </a:rPr>
              <a:t>Type it in and press Use this.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262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D2434"/>
                </a:solidFill>
                <a:latin typeface="Calibri"/>
              </a:rPr>
              <a:t>The app checks the choice immediately and reports the R version it found.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29200"/>
            <a:ext cx="10789920" cy="777240"/>
          </a:xfrm>
          <a:prstGeom prst="roundRect">
            <a:avLst/>
          </a:prstGeom>
          <a:solidFill>
            <a:srgbClr val="FD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51560" y="5230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3D2434"/>
                </a:solidFill>
                <a:latin typeface="Calibri"/>
              </a:rPr>
              <a:t>No R at all?  </a:t>
            </a:r>
            <a:r>
              <a:rPr sz="1350" b="0">
                <a:solidFill>
                  <a:srgbClr val="3D2434"/>
                </a:solidFill>
                <a:latin typeface="Calibri"/>
              </a:rPr>
              <a:t>Install R 4.5.x for Windows, then click Re-check. No extra R packages are ever needed — this app brings its 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71627C"/>
                </a:solidFill>
                <a:latin typeface="Calibri"/>
              </a:rPr>
              <a:t>Reopen later with the  ⚙ R setup  button at the top right.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StandardEyes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55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3D2434"/>
                </a:solidFill>
                <a:latin typeface="Cambria"/>
              </a:rPr>
              <a:t>The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71627C"/>
                </a:solidFill>
                <a:latin typeface="Calibri"/>
              </a:rPr>
              <a:t>Eight tabs, left to right — top to bottom 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2514600" cy="16459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1832" y="2267712"/>
            <a:ext cx="438912" cy="43891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834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3D2434"/>
                </a:solidFill>
                <a:latin typeface="Calibri"/>
              </a:rPr>
              <a:t>Data &amp;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163824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71627C"/>
                </a:solidFill>
                <a:latin typeface="Calibri"/>
              </a:rPr>
              <a:t>Load Excel, define 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514600" cy="16459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85032" y="2267712"/>
            <a:ext cx="438912" cy="43891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834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3D2434"/>
                </a:solidFill>
                <a:latin typeface="Calibri"/>
              </a:rPr>
              <a:t>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3163824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71627C"/>
                </a:solidFill>
                <a:latin typeface="Calibri"/>
              </a:rPr>
              <a:t>Baseline / Preop / Outcome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11680"/>
            <a:ext cx="2514600" cy="16459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28232" y="2267712"/>
            <a:ext cx="438912" cy="43891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834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3D2434"/>
                </a:solidFill>
                <a:latin typeface="Calibri"/>
              </a:rPr>
              <a:t>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163824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71627C"/>
                </a:solidFill>
                <a:latin typeface="Calibri"/>
              </a:rPr>
              <a:t>Inclusion rules + subsets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011680"/>
            <a:ext cx="2514600" cy="16459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71432" y="2267712"/>
            <a:ext cx="438912" cy="43891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834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3D2434"/>
                </a:solidFill>
                <a:latin typeface="Calibri"/>
              </a:rPr>
              <a:t>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163824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71627C"/>
                </a:solidFill>
                <a:latin typeface="Calibri"/>
              </a:rPr>
              <a:t>Propensity-score matching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31920"/>
            <a:ext cx="2514600" cy="16459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41832" y="4187952"/>
            <a:ext cx="438912" cy="43891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7548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3D2434"/>
                </a:solidFill>
                <a:latin typeface="Calibri"/>
              </a:rPr>
              <a:t>Regression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084064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71627C"/>
                </a:solidFill>
                <a:latin typeface="Calibri"/>
              </a:rPr>
              <a:t>Adjusted GEE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931920"/>
            <a:ext cx="2514600" cy="16459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3685032" y="4187952"/>
            <a:ext cx="438912" cy="43891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5032" y="47548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3D2434"/>
                </a:solidFill>
                <a:latin typeface="Calibri"/>
              </a:rPr>
              <a:t>GEE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2" y="5084064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71627C"/>
                </a:solidFill>
                <a:latin typeface="Calibri"/>
              </a:rPr>
              <a:t>Clustered comparison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931920"/>
            <a:ext cx="2514600" cy="16459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428232" y="4187952"/>
            <a:ext cx="438912" cy="43891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7548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3D2434"/>
                </a:solidFill>
                <a:latin typeface="Calibri"/>
              </a:rPr>
              <a:t>Special outputs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5084064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71627C"/>
                </a:solidFill>
                <a:latin typeface="Calibri"/>
              </a:rPr>
              <a:t>Figures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3931920"/>
            <a:ext cx="2514600" cy="16459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171432" y="4187952"/>
            <a:ext cx="438912" cy="43891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47548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3D2434"/>
                </a:solidFill>
                <a:latin typeface="Calibri"/>
              </a:rPr>
              <a:t>Run &amp;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5084064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71627C"/>
                </a:solidFill>
                <a:latin typeface="Calibri"/>
              </a:rPr>
              <a:t>Run, preview, save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StandardEyes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355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3D2434"/>
                </a:solidFill>
                <a:latin typeface="Cambria"/>
              </a:rPr>
              <a:t>Steps 1–2 · Data and variables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74519"/>
            <a:ext cx="5257800" cy="39319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005840" y="2148840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4208" y="22402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3D2434"/>
                </a:solidFill>
                <a:latin typeface="Cambria"/>
              </a:rPr>
              <a:t>Data &amp;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46177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Load your Excel file (it stays on your computer).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Choose the column that defines the groups, then map its values into the groups you want to compare.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Set the reference group — every comparison is made against it.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Also set the patient ID, so both eyes of one patient are clustered correctly.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74519"/>
            <a:ext cx="5257800" cy="39319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537960" y="2148840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6328" y="22402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3D2434"/>
                </a:solidFill>
                <a:latin typeface="Cambria"/>
              </a:rPr>
              <a:t>Variables &amp;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880360"/>
            <a:ext cx="46177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Put each variable into Baseline, Preop or Outcome, and give it a type: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continuous · ordinal · dichotomous · categorical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The type decides which test is used and how the value is displayed, so this is the step that shapes your tables.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Also say how your file writes visual acuity: decimal, logMAR, Snellen or ETDRS letters.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StandardEyes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3D2434"/>
                </a:solidFill>
                <a:latin typeface="Cambria"/>
              </a:rPr>
              <a:t>Steps 3–4 · Filters and matching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74519"/>
            <a:ext cx="5257800" cy="39319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005840" y="2148840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4208" y="22402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3D2434"/>
                </a:solidFill>
                <a:latin typeface="Cambria"/>
              </a:rPr>
              <a:t>Filters &amp; Subsets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46177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Add inclusion rules — age, follow-up, first treatment, cylinder limits, and so on.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Row counts update live, per group, so you can see exactly how many eyes each rule removes before running anything.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Subsets (e.g. PRK and LASIK) produce a separate full analysis 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74519"/>
            <a:ext cx="5257800" cy="393192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537960" y="2148840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6328" y="22402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3D2434"/>
                </a:solidFill>
                <a:latin typeface="Cambria"/>
              </a:rPr>
              <a:t>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880360"/>
            <a:ext cx="46177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Matching against the reference group: nearest neighbour, exact, coarsened exact or subclassification.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Choose the covariates to match on and, for nearest neighbour, the ratio and the caliper. A live preview shows how many eyes match before you commit.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Balance is reported so you can show the groups became comparable.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StandardEyes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3D2434"/>
                </a:solidFill>
                <a:latin typeface="Cambria"/>
              </a:rPr>
              <a:t>Steps 5–6 · Regression and GEE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71627C"/>
                </a:solidFill>
                <a:latin typeface="Calibri"/>
              </a:rPr>
              <a:t>How to handle groups that still differ at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789920" cy="960120"/>
          </a:xfrm>
          <a:prstGeom prst="roundRect">
            <a:avLst/>
          </a:prstGeom>
          <a:solidFill>
            <a:srgbClr val="FD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3D2434"/>
                </a:solidFill>
                <a:latin typeface="Calibri"/>
              </a:rPr>
              <a:t>GEE is how the regression is fitted, not an alternative to it. </a:t>
            </a:r>
            <a:r>
              <a:rPr sz="1400" b="0">
                <a:solidFill>
                  <a:srgbClr val="3D2434"/>
                </a:solidFill>
                <a:latin typeface="Calibri"/>
              </a:rPr>
              <a:t>The model is outcome ~ group + covariates; GEE additionally accounts for both eyes coming from the same patient.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739896"/>
            <a:ext cx="347472" cy="34747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0332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3D2434"/>
                </a:solidFill>
                <a:latin typeface="Calibri"/>
              </a:rPr>
              <a:t>Adjust for what is unbalanced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7033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71627C"/>
                </a:solidFill>
                <a:latin typeface="Calibri"/>
              </a:rPr>
              <a:t>Put the baseline variables that still differ into the regression covariates. If the group effect survives, it is not explained by those confounders.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517136"/>
            <a:ext cx="347472" cy="34747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80559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3D2434"/>
                </a:solidFill>
                <a:latin typeface="Calibri"/>
              </a:rPr>
              <a:t>Match first, then adjust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480559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71627C"/>
                </a:solidFill>
                <a:latin typeface="Calibri"/>
              </a:rPr>
              <a:t>Regression adjustment after matching: adjust the outcome model for whatever matching left imbalanced — the strongest option the app offers.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294375"/>
            <a:ext cx="347472" cy="34747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257799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3D2434"/>
                </a:solidFill>
                <a:latin typeface="Calibri"/>
              </a:rPr>
              <a:t>Choose covariates by balance, not by 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257799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71627C"/>
                </a:solidFill>
                <a:latin typeface="Calibri"/>
              </a:rPr>
              <a:t>Add a covariate because it is still imbalanced (SMD above ~0.1), never because it changes the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StandardEyes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55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3D2434"/>
                </a:solidFill>
                <a:latin typeface="Cambria"/>
              </a:rPr>
              <a:t>Step 7 ·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71627C"/>
                </a:solidFill>
                <a:latin typeface="Calibri"/>
              </a:rPr>
              <a:t>One coherent suite — every option independently switchable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932688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200253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007E"/>
                </a:solidFill>
                <a:latin typeface="Cambria"/>
              </a:rPr>
              <a:t>The composite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84248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71627C"/>
                </a:solidFill>
                <a:latin typeface="Calibri"/>
              </a:rPr>
              <a:t>EVERY group on one chart, however many. Omnibus + versus-reference statistics, clustered by patient. Panel sets: Full (nine), Refractive (six), Cataract (four); stability joins as an extra panel.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35224"/>
            <a:ext cx="10789920" cy="932688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007E"/>
                </a:solidFill>
                <a:latin typeface="Cambria"/>
              </a:rPr>
              <a:t>Double-angle plots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044952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71627C"/>
                </a:solidFill>
                <a:latin typeface="Calibri"/>
              </a:rPr>
              <a:t>The JCRS-2025 astigmatism standard: centroid, total SD, 95% nonparametric convex polygon and a dashed 95% CI of the centroid, per group.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95928"/>
            <a:ext cx="10789920" cy="932688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412394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007E"/>
                </a:solidFill>
                <a:latin typeface="Cambria"/>
              </a:rPr>
              <a:t>Semicircle 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105656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71627C"/>
                </a:solidFill>
                <a:latin typeface="Calibri"/>
              </a:rPr>
              <a:t>Single-angle polar vector diagrams — TIA, SIA, difference vector and correction index — groups superimposed on a grey background, kept for familiarity.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056632"/>
            <a:ext cx="10789920" cy="932688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51846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007E"/>
                </a:solidFill>
                <a:latin typeface="Cambria"/>
              </a:rPr>
              <a:t>Export tabs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166360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71627C"/>
                </a:solidFill>
                <a:latin typeface="Calibri"/>
              </a:rPr>
              <a:t>Optional worksheets in mEYEstro and AstigMATIC format, for verifying numbers against those tools.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6144768"/>
            <a:ext cx="10789920" cy="566928"/>
          </a:xfrm>
          <a:prstGeom prst="roundRect">
            <a:avLst/>
          </a:prstGeom>
          <a:solidFill>
            <a:srgbClr val="FD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51560" y="6272784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3D2434"/>
                </a:solidFill>
                <a:latin typeface="Calibri"/>
              </a:rPr>
              <a:t>Stability over time is mapped once and joins the composite as its own panel. Every panel is saved as its own TIFF (300 dpi default) and again inside the composite.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StandardEyes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355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3D2434"/>
                </a:solidFill>
                <a:latin typeface="Cambria"/>
              </a:rPr>
              <a:t>Step 8 · Run, preview, save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65960"/>
            <a:ext cx="5257800" cy="379476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D2434"/>
                </a:solidFill>
                <a:latin typeface="Cambria"/>
              </a:rPr>
              <a:t>Saved only when you say 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46177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Results are held inside the app first, so you can look through every sheet before anything reaches your output folder.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Meanwhile a temporary copy sits in the app's own folder; it is deleted at your next run or when you close the app.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When you are happy, choose the output folder and save.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Progress and a full log are shown while R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65960"/>
            <a:ext cx="5257800" cy="3794760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D2434"/>
                </a:solidFill>
                <a:latin typeface="Cambria"/>
              </a:rPr>
              <a:t>What you 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880360"/>
            <a:ext cx="46177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•  Excel workbooks — summary, matching, GEE, regression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•  A matched-only workbook with every pairing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•  A figure folder per run, previewed in the app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•  The filtered dataset as CSV (optional)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3D2434"/>
                </a:solidFill>
                <a:latin typeface="Calibri"/>
              </a:rPr>
              <a:t>Adjusted effects and p-values are embedded in the main outcome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StandardEyes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55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3D2434"/>
                </a:solidFill>
                <a:latin typeface="Cambria"/>
              </a:rPr>
              <a:t>Presets — one per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71627C"/>
                </a:solidFill>
                <a:latin typeface="Calibri"/>
              </a:rPr>
              <a:t>Save every setting of a project and reload it in one click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03120"/>
            <a:ext cx="10789920" cy="1371600"/>
          </a:xfrm>
          <a:prstGeom prst="roundRect">
            <a:avLst/>
          </a:prstGeom>
          <a:solidFill>
            <a:srgbClr val="FD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239572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D2434"/>
                </a:solidFill>
                <a:latin typeface="Calibri"/>
              </a:rPr>
              <a:t>A preset stores everything: groups, variable typing, filters, subsets, matching, regression and figure choices.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813048"/>
            <a:ext cx="384048" cy="384048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794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3D2434"/>
                </a:solidFill>
                <a:latin typeface="Calibri"/>
              </a:rPr>
              <a:t>Save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79476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1627C"/>
                </a:solidFill>
                <a:latin typeface="Calibri"/>
              </a:rPr>
              <a:t>Name the study and click save. It is stored inside the app on your own computer.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544568"/>
            <a:ext cx="384048" cy="384048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5262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3D2434"/>
                </a:solidFill>
                <a:latin typeface="Calibri"/>
              </a:rPr>
              <a:t>Reload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52628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1627C"/>
                </a:solidFill>
                <a:latin typeface="Calibri"/>
              </a:rPr>
              <a:t>Click the preset to restore the entire configuration.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276088"/>
            <a:ext cx="384048" cy="384048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257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3D2434"/>
                </a:solidFill>
                <a:latin typeface="Calibri"/>
              </a:rPr>
              <a:t>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25780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1627C"/>
                </a:solidFill>
                <a:latin typeface="Calibri"/>
              </a:rPr>
              <a:t>Download the config as JSON and send it to a colleague — they load it and get your exact setup.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1627C"/>
                </a:solidFill>
                <a:latin typeface="Calibri"/>
              </a:rPr>
              <a:t>Seven worked ‘Example – …’ presets are included (built on the bundled example dataset); presets you save appear beside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StandardEyes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55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3D2434"/>
                </a:solidFill>
                <a:latin typeface="Cambria"/>
              </a:rPr>
              <a:t>If something goes wrong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47088"/>
            <a:ext cx="10789920" cy="566928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98424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6007E"/>
                </a:solidFill>
                <a:latin typeface="Calibri"/>
              </a:rPr>
              <a:t>“Python runtime is missing”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2040" y="1984248"/>
            <a:ext cx="6355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71627C"/>
                </a:solidFill>
                <a:latin typeface="Calibri"/>
              </a:rPr>
              <a:t>The folder was copied incompletely, or is still inside a ZIP. Copy the whole folder again.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87168"/>
            <a:ext cx="10789920" cy="566928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2624327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6007E"/>
                </a:solidFill>
                <a:latin typeface="Calibri"/>
              </a:rPr>
              <a:t>“Cannot write to its own folder”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624327"/>
            <a:ext cx="6355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71627C"/>
                </a:solidFill>
                <a:latin typeface="Calibri"/>
              </a:rPr>
              <a:t>Move the whole folder somewhere you can write to (Documents, C:\StandardEyes) — not C:\Program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27248"/>
            <a:ext cx="10789920" cy="566928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326440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6007E"/>
                </a:solidFill>
                <a:latin typeface="Calibri"/>
              </a:rPr>
              <a:t>The browser shows nothing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264408"/>
            <a:ext cx="6355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71627C"/>
                </a:solidFill>
                <a:latin typeface="Calibri"/>
              </a:rPr>
              <a:t>Wait a few seconds, then reload the address printed in the console window.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67328"/>
            <a:ext cx="10789920" cy="566928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390448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6007E"/>
                </a:solidFill>
                <a:latin typeface="Calibri"/>
              </a:rPr>
              <a:t>“R is not set up yet”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904488"/>
            <a:ext cx="6355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71627C"/>
                </a:solidFill>
                <a:latin typeface="Calibri"/>
              </a:rPr>
              <a:t>Click ⚙ R setup at the top right and point it at Rscript.exe.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07408"/>
            <a:ext cx="10789920" cy="566928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5840" y="454456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6007E"/>
                </a:solidFill>
                <a:latin typeface="Calibri"/>
              </a:rPr>
              <a:t>A red “out of date” 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544568"/>
            <a:ext cx="6355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71627C"/>
                </a:solidFill>
                <a:latin typeface="Calibri"/>
              </a:rPr>
              <a:t>Close the console window, start the app again, then press Ctrl+F5.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047488"/>
            <a:ext cx="10789920" cy="566928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05840" y="518464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6007E"/>
                </a:solidFill>
                <a:latin typeface="Calibri"/>
              </a:rPr>
              <a:t>The analysis fails immediately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5184648"/>
            <a:ext cx="6355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71627C"/>
                </a:solidFill>
                <a:latin typeface="Calibri"/>
              </a:rPr>
              <a:t>Check your R version is 4.5.x and the VA notation of your file — the log says why.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687568"/>
            <a:ext cx="10789920" cy="566928"/>
          </a:xfrm>
          <a:prstGeom prst="roundRect">
            <a:avLst/>
          </a:prstGeom>
          <a:solidFill>
            <a:srgbClr val="FA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5840" y="582472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6007E"/>
                </a:solidFill>
                <a:latin typeface="Calibri"/>
              </a:rPr>
              <a:t>Am I in the right app?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5824728"/>
            <a:ext cx="6355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71627C"/>
                </a:solidFill>
                <a:latin typeface="Calibri"/>
              </a:rPr>
              <a:t>The header says StandardEyes — By Noyman DBE, Mimouni M, Safir M — and a version such as v1.0.0 (build 2026-10-02-se.9).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StandardEyes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355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1627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Everything runs on your own computer.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FDE7F3"/>
                </a:solidFill>
                <a:latin typeface="Calibri"/>
              </a:rPr>
              <a:t>No data leaves the machine, no internet connection is needed, and no packages are ever installed.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DE7F3"/>
                </a:solidFill>
                <a:latin typeface="Calibri"/>
              </a:rPr>
              <a:t>StandardEyes · Refractive surgery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F6EB4"/>
                </a:solidFill>
                <a:latin typeface="Calibri"/>
              </a:rPr>
              <a:t>By Noyman DBE, Mimouni M, Safir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